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7" r:id="rId5"/>
    <p:sldMasterId id="2147483686" r:id="rId6"/>
    <p:sldMasterId id="2147483698" r:id="rId7"/>
    <p:sldMasterId id="2147483710" r:id="rId8"/>
  </p:sldMasterIdLst>
  <p:notesMasterIdLst>
    <p:notesMasterId r:id="rId19"/>
  </p:notesMasterIdLst>
  <p:sldIdLst>
    <p:sldId id="383" r:id="rId9"/>
    <p:sldId id="441" r:id="rId10"/>
    <p:sldId id="404" r:id="rId11"/>
    <p:sldId id="391" r:id="rId12"/>
    <p:sldId id="599" r:id="rId13"/>
    <p:sldId id="424" r:id="rId14"/>
    <p:sldId id="444" r:id="rId15"/>
    <p:sldId id="592" r:id="rId16"/>
    <p:sldId id="588" r:id="rId17"/>
    <p:sldId id="597" r:id="rId18"/>
  </p:sldIdLst>
  <p:sldSz cx="7772400" cy="10058400"/>
  <p:notesSz cx="7010400" cy="9296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6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72610-E11C-4F95-8B50-E26D1B9F8073}" v="11" dt="2026-06-18T22:14:33.451"/>
    <p1510:client id="{48D804E7-C476-4602-B42F-096CF452D0CF}" v="5" dt="2026-06-19T03:49:48.3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92" autoAdjust="0"/>
  </p:normalViewPr>
  <p:slideViewPr>
    <p:cSldViewPr>
      <p:cViewPr varScale="1">
        <p:scale>
          <a:sx n="72" d="100"/>
          <a:sy n="72" d="100"/>
        </p:scale>
        <p:origin x="2904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acca, Zachary" userId="a3074712-f338-4892-b004-60f0c1ac895e" providerId="ADAL" clId="{13B344EC-FF2D-4196-86A8-2915885D043D}"/>
    <pc:docChg chg="undo custSel addSld delSld modSld sldOrd delMainMaster modMainMaster">
      <pc:chgData name="Petracca, Zachary" userId="a3074712-f338-4892-b004-60f0c1ac895e" providerId="ADAL" clId="{13B344EC-FF2D-4196-86A8-2915885D043D}" dt="2026-06-18T22:14:42.849" v="2893"/>
      <pc:docMkLst>
        <pc:docMk/>
      </pc:docMkLst>
      <pc:sldChg chg="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146000194" sldId="389"/>
        </pc:sldMkLst>
      </pc:sldChg>
      <pc:sldChg chg="modSp 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3315775193" sldId="391"/>
        </pc:sldMkLst>
        <pc:spChg chg="mod">
          <ac:chgData name="Petracca, Zachary" userId="a3074712-f338-4892-b004-60f0c1ac895e" providerId="ADAL" clId="{13B344EC-FF2D-4196-86A8-2915885D043D}" dt="2026-06-12T20:34:42.616" v="2837" actId="5793"/>
          <ac:spMkLst>
            <pc:docMk/>
            <pc:sldMk cId="3315775193" sldId="391"/>
            <ac:spMk id="14" creationId="{683936CB-9226-4102-9A6F-E82C6D0853D6}"/>
          </ac:spMkLst>
        </pc:spChg>
      </pc:sldChg>
      <pc:sldChg chg="modSp mod">
        <pc:chgData name="Petracca, Zachary" userId="a3074712-f338-4892-b004-60f0c1ac895e" providerId="ADAL" clId="{13B344EC-FF2D-4196-86A8-2915885D043D}" dt="2026-06-18T22:10:08.174" v="2861" actId="6549"/>
        <pc:sldMkLst>
          <pc:docMk/>
          <pc:sldMk cId="3942826369" sldId="404"/>
        </pc:sldMkLst>
        <pc:spChg chg="mod">
          <ac:chgData name="Petracca, Zachary" userId="a3074712-f338-4892-b004-60f0c1ac895e" providerId="ADAL" clId="{13B344EC-FF2D-4196-86A8-2915885D043D}" dt="2026-06-18T22:10:08.174" v="2861" actId="6549"/>
          <ac:spMkLst>
            <pc:docMk/>
            <pc:sldMk cId="3942826369" sldId="404"/>
            <ac:spMk id="2" creationId="{58F1D74E-6989-9E46-9DB4-59D489DFED93}"/>
          </ac:spMkLst>
        </pc:spChg>
      </pc:sldChg>
      <pc:sldChg chg="del">
        <pc:chgData name="Petracca, Zachary" userId="a3074712-f338-4892-b004-60f0c1ac895e" providerId="ADAL" clId="{13B344EC-FF2D-4196-86A8-2915885D043D}" dt="2026-06-18T22:09:58.505" v="2858" actId="47"/>
        <pc:sldMkLst>
          <pc:docMk/>
          <pc:sldMk cId="748922209" sldId="423"/>
        </pc:sldMkLst>
      </pc:sldChg>
      <pc:sldChg chg="addSp delSp modSp mod">
        <pc:chgData name="Petracca, Zachary" userId="a3074712-f338-4892-b004-60f0c1ac895e" providerId="ADAL" clId="{13B344EC-FF2D-4196-86A8-2915885D043D}" dt="2026-06-18T22:11:30.142" v="2875" actId="13926"/>
        <pc:sldMkLst>
          <pc:docMk/>
          <pc:sldMk cId="2461100065" sldId="424"/>
        </pc:sldMkLst>
        <pc:spChg chg="mod">
          <ac:chgData name="Petracca, Zachary" userId="a3074712-f338-4892-b004-60f0c1ac895e" providerId="ADAL" clId="{13B344EC-FF2D-4196-86A8-2915885D043D}" dt="2026-06-18T22:11:17.868" v="2873" actId="1076"/>
          <ac:spMkLst>
            <pc:docMk/>
            <pc:sldMk cId="2461100065" sldId="424"/>
            <ac:spMk id="6" creationId="{14092BBE-7730-5B03-4146-123F6FB0D9E4}"/>
          </ac:spMkLst>
        </pc:spChg>
        <pc:spChg chg="del mod">
          <ac:chgData name="Petracca, Zachary" userId="a3074712-f338-4892-b004-60f0c1ac895e" providerId="ADAL" clId="{13B344EC-FF2D-4196-86A8-2915885D043D}" dt="2026-06-18T22:10:51.495" v="2864"/>
          <ac:spMkLst>
            <pc:docMk/>
            <pc:sldMk cId="2461100065" sldId="424"/>
            <ac:spMk id="24" creationId="{8AF128D4-551E-41E7-8B92-64B404879FE1}"/>
          </ac:spMkLst>
        </pc:spChg>
        <pc:graphicFrameChg chg="mod modGraphic">
          <ac:chgData name="Petracca, Zachary" userId="a3074712-f338-4892-b004-60f0c1ac895e" providerId="ADAL" clId="{13B344EC-FF2D-4196-86A8-2915885D043D}" dt="2026-06-18T22:11:30.142" v="2875" actId="13926"/>
          <ac:graphicFrameMkLst>
            <pc:docMk/>
            <pc:sldMk cId="2461100065" sldId="424"/>
            <ac:graphicFrameMk id="13" creationId="{D008063C-FB77-F7A8-FAAE-7D160957D8AA}"/>
          </ac:graphicFrameMkLst>
        </pc:graphicFrameChg>
        <pc:picChg chg="add del mod">
          <ac:chgData name="Petracca, Zachary" userId="a3074712-f338-4892-b004-60f0c1ac895e" providerId="ADAL" clId="{13B344EC-FF2D-4196-86A8-2915885D043D}" dt="2026-06-18T22:11:06.784" v="2871" actId="1076"/>
          <ac:picMkLst>
            <pc:docMk/>
            <pc:sldMk cId="2461100065" sldId="424"/>
            <ac:picMk id="45" creationId="{61FA9535-C81A-AF8C-68AA-F503F832905A}"/>
          </ac:picMkLst>
        </pc:picChg>
      </pc:sldChg>
      <pc:sldChg chg="add del">
        <pc:chgData name="Petracca, Zachary" userId="a3074712-f338-4892-b004-60f0c1ac895e" providerId="ADAL" clId="{13B344EC-FF2D-4196-86A8-2915885D043D}" dt="2026-06-18T22:10:00.870" v="2859" actId="47"/>
        <pc:sldMkLst>
          <pc:docMk/>
          <pc:sldMk cId="1375016312" sldId="438"/>
        </pc:sldMkLst>
      </pc:sldChg>
      <pc:sldChg chg="add">
        <pc:chgData name="Petracca, Zachary" userId="a3074712-f338-4892-b004-60f0c1ac895e" providerId="ADAL" clId="{13B344EC-FF2D-4196-86A8-2915885D043D}" dt="2026-06-18T22:09:56.222" v="2857"/>
        <pc:sldMkLst>
          <pc:docMk/>
          <pc:sldMk cId="1087168961" sldId="441"/>
        </pc:sldMkLst>
      </pc:sldChg>
      <pc:sldChg chg="add">
        <pc:chgData name="Petracca, Zachary" userId="a3074712-f338-4892-b004-60f0c1ac895e" providerId="ADAL" clId="{13B344EC-FF2D-4196-86A8-2915885D043D}" dt="2026-06-18T22:10:52.523" v="2865"/>
        <pc:sldMkLst>
          <pc:docMk/>
          <pc:sldMk cId="3076193877" sldId="444"/>
        </pc:sldMkLst>
      </pc:sldChg>
      <pc:sldChg chg="add">
        <pc:chgData name="Petracca, Zachary" userId="a3074712-f338-4892-b004-60f0c1ac895e" providerId="ADAL" clId="{13B344EC-FF2D-4196-86A8-2915885D043D}" dt="2026-06-18T22:12:18.694" v="2878"/>
        <pc:sldMkLst>
          <pc:docMk/>
          <pc:sldMk cId="898956213" sldId="453"/>
        </pc:sldMkLst>
      </pc:sldChg>
      <pc:sldChg chg="del">
        <pc:chgData name="Petracca, Zachary" userId="a3074712-f338-4892-b004-60f0c1ac895e" providerId="ADAL" clId="{13B344EC-FF2D-4196-86A8-2915885D043D}" dt="2026-06-18T22:13:04.842" v="2883" actId="47"/>
        <pc:sldMkLst>
          <pc:docMk/>
          <pc:sldMk cId="3951989002" sldId="458"/>
        </pc:sldMkLst>
      </pc:sldChg>
      <pc:sldChg chg="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988662460" sldId="570"/>
        </pc:sldMkLst>
      </pc:sldChg>
      <pc:sldChg chg="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3905137095" sldId="582"/>
        </pc:sldMkLst>
      </pc:sldChg>
      <pc:sldChg chg="modSp 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2300614270" sldId="586"/>
        </pc:sldMkLst>
      </pc:sldChg>
      <pc:sldChg chg="modSp add mod">
        <pc:chgData name="Petracca, Zachary" userId="a3074712-f338-4892-b004-60f0c1ac895e" providerId="ADAL" clId="{13B344EC-FF2D-4196-86A8-2915885D043D}" dt="2026-06-18T22:13:33.600" v="2888" actId="13926"/>
        <pc:sldMkLst>
          <pc:docMk/>
          <pc:sldMk cId="279957828" sldId="588"/>
        </pc:sldMkLst>
        <pc:spChg chg="mod">
          <ac:chgData name="Petracca, Zachary" userId="a3074712-f338-4892-b004-60f0c1ac895e" providerId="ADAL" clId="{13B344EC-FF2D-4196-86A8-2915885D043D}" dt="2026-06-18T22:13:33.600" v="2888" actId="13926"/>
          <ac:spMkLst>
            <pc:docMk/>
            <pc:sldMk cId="279957828" sldId="588"/>
            <ac:spMk id="3" creationId="{EEF63AA3-1C35-5206-969B-AB738B09F437}"/>
          </ac:spMkLst>
        </pc:spChg>
        <pc:spChg chg="mod">
          <ac:chgData name="Petracca, Zachary" userId="a3074712-f338-4892-b004-60f0c1ac895e" providerId="ADAL" clId="{13B344EC-FF2D-4196-86A8-2915885D043D}" dt="2026-06-18T22:13:31.057" v="2887" actId="13926"/>
          <ac:spMkLst>
            <pc:docMk/>
            <pc:sldMk cId="279957828" sldId="588"/>
            <ac:spMk id="5" creationId="{E1ABF33B-F65F-888D-3366-6A37825E8D71}"/>
          </ac:spMkLst>
        </pc:spChg>
      </pc:sldChg>
      <pc:sldChg chg="modSp add mod">
        <pc:chgData name="Petracca, Zachary" userId="a3074712-f338-4892-b004-60f0c1ac895e" providerId="ADAL" clId="{13B344EC-FF2D-4196-86A8-2915885D043D}" dt="2026-06-18T22:13:18.801" v="2885" actId="13926"/>
        <pc:sldMkLst>
          <pc:docMk/>
          <pc:sldMk cId="1598628189" sldId="592"/>
        </pc:sldMkLst>
        <pc:spChg chg="mod">
          <ac:chgData name="Petracca, Zachary" userId="a3074712-f338-4892-b004-60f0c1ac895e" providerId="ADAL" clId="{13B344EC-FF2D-4196-86A8-2915885D043D}" dt="2026-06-18T22:13:18.801" v="2885" actId="13926"/>
          <ac:spMkLst>
            <pc:docMk/>
            <pc:sldMk cId="1598628189" sldId="592"/>
            <ac:spMk id="3" creationId="{EB4C7C44-0F83-9784-E012-602C8F7CA899}"/>
          </ac:spMkLst>
        </pc:spChg>
      </pc:sldChg>
      <pc:sldChg chg="add del">
        <pc:chgData name="Petracca, Zachary" userId="a3074712-f338-4892-b004-60f0c1ac895e" providerId="ADAL" clId="{13B344EC-FF2D-4196-86A8-2915885D043D}" dt="2026-06-18T22:12:22.586" v="2879" actId="47"/>
        <pc:sldMkLst>
          <pc:docMk/>
          <pc:sldMk cId="374832549" sldId="593"/>
        </pc:sldMkLst>
      </pc:sldChg>
      <pc:sldChg chg="add mod modClrScheme chgLayout">
        <pc:chgData name="Petracca, Zachary" userId="a3074712-f338-4892-b004-60f0c1ac895e" providerId="ADAL" clId="{13B344EC-FF2D-4196-86A8-2915885D043D}" dt="2026-06-18T22:14:42.849" v="2893"/>
        <pc:sldMkLst>
          <pc:docMk/>
          <pc:sldMk cId="3057735810" sldId="596"/>
        </pc:sldMkLst>
      </pc:sldChg>
      <pc:sldChg chg="modSp add mod">
        <pc:chgData name="Petracca, Zachary" userId="a3074712-f338-4892-b004-60f0c1ac895e" providerId="ADAL" clId="{13B344EC-FF2D-4196-86A8-2915885D043D}" dt="2026-06-18T22:14:36.181" v="2890" actId="13926"/>
        <pc:sldMkLst>
          <pc:docMk/>
          <pc:sldMk cId="1692405348" sldId="597"/>
        </pc:sldMkLst>
        <pc:spChg chg="mod">
          <ac:chgData name="Petracca, Zachary" userId="a3074712-f338-4892-b004-60f0c1ac895e" providerId="ADAL" clId="{13B344EC-FF2D-4196-86A8-2915885D043D}" dt="2026-06-18T22:14:36.181" v="2890" actId="13926"/>
          <ac:spMkLst>
            <pc:docMk/>
            <pc:sldMk cId="1692405348" sldId="597"/>
            <ac:spMk id="10" creationId="{56648C44-61AC-A64F-BA0D-14D7B31ABE91}"/>
          </ac:spMkLst>
        </pc:spChg>
      </pc:sldChg>
      <pc:sldMasterChg chg="modSldLayout sldLayoutOrd">
        <pc:chgData name="Petracca, Zachary" userId="a3074712-f338-4892-b004-60f0c1ac895e" providerId="ADAL" clId="{13B344EC-FF2D-4196-86A8-2915885D043D}" dt="2026-06-18T22:14:42.798" v="2891"/>
        <pc:sldMasterMkLst>
          <pc:docMk/>
          <pc:sldMasterMk cId="0" sldId="2147483648"/>
        </pc:sldMasterMkLst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2405931124" sldId="2147483680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2405931124" sldId="2147483680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2405931124" sldId="2147483680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2405931124" sldId="2147483680"/>
              <ac:spMk id="4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2405931124" sldId="2147483680"/>
              <ac:spMk id="5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2405931124" sldId="2147483680"/>
              <ac:spMk id="6" creationId="{00000000-0000-0000-0000-000000000000}"/>
            </ac:spMkLst>
          </pc:spChg>
        </pc:sldLayoutChg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1364021794" sldId="2147483681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364021794" sldId="2147483681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364021794" sldId="2147483681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364021794" sldId="2147483681"/>
              <ac:spMk id="4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364021794" sldId="2147483681"/>
              <ac:spMk id="5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364021794" sldId="2147483681"/>
              <ac:spMk id="6" creationId="{00000000-0000-0000-0000-000000000000}"/>
            </ac:spMkLst>
          </pc:spChg>
        </pc:sldLayoutChg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1680464043" sldId="2147483682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4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5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6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680464043" sldId="2147483682"/>
              <ac:spMk id="7" creationId="{00000000-0000-0000-0000-000000000000}"/>
            </ac:spMkLst>
          </pc:spChg>
        </pc:sldLayoutChg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176669576" sldId="2147483683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76669576" sldId="2147483683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76669576" sldId="2147483683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76669576" sldId="2147483683"/>
              <ac:spMk id="4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176669576" sldId="2147483683"/>
              <ac:spMk id="5" creationId="{00000000-0000-0000-0000-000000000000}"/>
            </ac:spMkLst>
          </pc:spChg>
        </pc:sldLayoutChg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3729487753" sldId="2147483684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729487753" sldId="2147483684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729487753" sldId="2147483684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729487753" sldId="2147483684"/>
              <ac:spMk id="4" creationId="{00000000-0000-0000-0000-000000000000}"/>
            </ac:spMkLst>
          </pc:spChg>
        </pc:sldLayoutChg>
        <pc:sldLayoutChg chg="modSp mod ord">
          <pc:chgData name="Petracca, Zachary" userId="a3074712-f338-4892-b004-60f0c1ac895e" providerId="ADAL" clId="{13B344EC-FF2D-4196-86A8-2915885D043D}" dt="2026-06-18T22:14:42.798" v="2891"/>
          <pc:sldLayoutMkLst>
            <pc:docMk/>
            <pc:sldMasterMk cId="0" sldId="2147483648"/>
            <pc:sldLayoutMk cId="3830740256" sldId="2147483685"/>
          </pc:sldLayoutMkLst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830740256" sldId="2147483685"/>
              <ac:spMk id="2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830740256" sldId="2147483685"/>
              <ac:spMk id="3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830740256" sldId="2147483685"/>
              <ac:spMk id="4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830740256" sldId="2147483685"/>
              <ac:spMk id="5" creationId="{00000000-0000-0000-0000-000000000000}"/>
            </ac:spMkLst>
          </pc:spChg>
          <pc:spChg chg="mod">
            <ac:chgData name="Petracca, Zachary" userId="a3074712-f338-4892-b004-60f0c1ac895e" providerId="ADAL" clId="{13B344EC-FF2D-4196-86A8-2915885D043D}" dt="2026-06-18T22:14:42.798" v="2891"/>
            <ac:spMkLst>
              <pc:docMk/>
              <pc:sldMasterMk cId="0" sldId="2147483648"/>
              <pc:sldLayoutMk cId="3830740256" sldId="2147483685"/>
              <ac:spMk id="6" creationId="{00000000-0000-0000-0000-000000000000}"/>
            </ac:spMkLst>
          </pc:spChg>
        </pc:sldLayoutChg>
      </pc:sldMasterChg>
      <pc:sldMasterChg chg="del sldLayoutOrd">
        <pc:chgData name="Petracca, Zachary" userId="a3074712-f338-4892-b004-60f0c1ac895e" providerId="ADAL" clId="{13B344EC-FF2D-4196-86A8-2915885D043D}" dt="2026-06-18T22:14:42.822" v="2892"/>
        <pc:sldMasterMkLst>
          <pc:docMk/>
          <pc:sldMasterMk cId="2431892601" sldId="2147483679"/>
        </pc:sldMasterMkLst>
      </pc:sldMasterChg>
    </pc:docChg>
  </pc:docChgLst>
  <pc:docChgLst>
    <pc:chgData name="Tyler Leiss" userId="a54949c00170af13" providerId="LiveId" clId="{7CC8C96F-B8A1-41C6-AE4C-B6A8429ECD56}"/>
    <pc:docChg chg="undo redo custSel addSld delSld modSld">
      <pc:chgData name="Tyler Leiss" userId="a54949c00170af13" providerId="LiveId" clId="{7CC8C96F-B8A1-41C6-AE4C-B6A8429ECD56}" dt="2026-06-19T03:55:21.332" v="83" actId="1076"/>
      <pc:docMkLst>
        <pc:docMk/>
      </pc:docMkLst>
      <pc:sldChg chg="del">
        <pc:chgData name="Tyler Leiss" userId="a54949c00170af13" providerId="LiveId" clId="{7CC8C96F-B8A1-41C6-AE4C-B6A8429ECD56}" dt="2026-06-19T03:53:05.795" v="45" actId="47"/>
        <pc:sldMkLst>
          <pc:docMk/>
          <pc:sldMk cId="146000194" sldId="389"/>
        </pc:sldMkLst>
      </pc:sldChg>
      <pc:sldChg chg="modSp mod setBg">
        <pc:chgData name="Tyler Leiss" userId="a54949c00170af13" providerId="LiveId" clId="{7CC8C96F-B8A1-41C6-AE4C-B6A8429ECD56}" dt="2026-06-19T03:49:29.423" v="39" actId="20577"/>
        <pc:sldMkLst>
          <pc:docMk/>
          <pc:sldMk cId="3315775193" sldId="391"/>
        </pc:sldMkLst>
        <pc:spChg chg="mod">
          <ac:chgData name="Tyler Leiss" userId="a54949c00170af13" providerId="LiveId" clId="{7CC8C96F-B8A1-41C6-AE4C-B6A8429ECD56}" dt="2026-06-19T03:49:24.400" v="31" actId="20577"/>
          <ac:spMkLst>
            <pc:docMk/>
            <pc:sldMk cId="3315775193" sldId="391"/>
            <ac:spMk id="8" creationId="{9AD0103D-8380-C48B-3246-74AB6C9B19F3}"/>
          </ac:spMkLst>
        </pc:spChg>
        <pc:spChg chg="mod">
          <ac:chgData name="Tyler Leiss" userId="a54949c00170af13" providerId="LiveId" clId="{7CC8C96F-B8A1-41C6-AE4C-B6A8429ECD56}" dt="2026-06-19T03:49:29.423" v="39" actId="20577"/>
          <ac:spMkLst>
            <pc:docMk/>
            <pc:sldMk cId="3315775193" sldId="391"/>
            <ac:spMk id="13" creationId="{751F55E5-B744-48A4-B5B6-FCDBF565C646}"/>
          </ac:spMkLst>
        </pc:spChg>
        <pc:spChg chg="mod">
          <ac:chgData name="Tyler Leiss" userId="a54949c00170af13" providerId="LiveId" clId="{7CC8C96F-B8A1-41C6-AE4C-B6A8429ECD56}" dt="2026-06-19T03:38:08.733" v="8" actId="13926"/>
          <ac:spMkLst>
            <pc:docMk/>
            <pc:sldMk cId="3315775193" sldId="391"/>
            <ac:spMk id="17" creationId="{CFA996AB-8A5F-47A5-857E-95D8C0F05748}"/>
          </ac:spMkLst>
        </pc:spChg>
        <pc:spChg chg="mod">
          <ac:chgData name="Tyler Leiss" userId="a54949c00170af13" providerId="LiveId" clId="{7CC8C96F-B8A1-41C6-AE4C-B6A8429ECD56}" dt="2026-06-19T03:38:00.234" v="7" actId="13926"/>
          <ac:spMkLst>
            <pc:docMk/>
            <pc:sldMk cId="3315775193" sldId="391"/>
            <ac:spMk id="27" creationId="{ED2BA67B-A29E-098F-C57A-7EF3988C2938}"/>
          </ac:spMkLst>
        </pc:spChg>
      </pc:sldChg>
      <pc:sldChg chg="modSp mod">
        <pc:chgData name="Tyler Leiss" userId="a54949c00170af13" providerId="LiveId" clId="{7CC8C96F-B8A1-41C6-AE4C-B6A8429ECD56}" dt="2026-06-19T03:55:21.332" v="83" actId="1076"/>
        <pc:sldMkLst>
          <pc:docMk/>
          <pc:sldMk cId="2461100065" sldId="424"/>
        </pc:sldMkLst>
        <pc:spChg chg="mod">
          <ac:chgData name="Tyler Leiss" userId="a54949c00170af13" providerId="LiveId" clId="{7CC8C96F-B8A1-41C6-AE4C-B6A8429ECD56}" dt="2026-06-19T03:55:06.858" v="79" actId="14100"/>
          <ac:spMkLst>
            <pc:docMk/>
            <pc:sldMk cId="2461100065" sldId="424"/>
            <ac:spMk id="6" creationId="{14092BBE-7730-5B03-4146-123F6FB0D9E4}"/>
          </ac:spMkLst>
        </pc:spChg>
        <pc:graphicFrameChg chg="mod modGraphic">
          <ac:chgData name="Tyler Leiss" userId="a54949c00170af13" providerId="LiveId" clId="{7CC8C96F-B8A1-41C6-AE4C-B6A8429ECD56}" dt="2026-06-19T03:55:21.332" v="83" actId="1076"/>
          <ac:graphicFrameMkLst>
            <pc:docMk/>
            <pc:sldMk cId="2461100065" sldId="424"/>
            <ac:graphicFrameMk id="13" creationId="{D008063C-FB77-F7A8-FAAE-7D160957D8AA}"/>
          </ac:graphicFrameMkLst>
        </pc:graphicFrameChg>
      </pc:sldChg>
      <pc:sldChg chg="modSp mod">
        <pc:chgData name="Tyler Leiss" userId="a54949c00170af13" providerId="LiveId" clId="{7CC8C96F-B8A1-41C6-AE4C-B6A8429ECD56}" dt="2026-06-19T03:54:33.530" v="54" actId="1076"/>
        <pc:sldMkLst>
          <pc:docMk/>
          <pc:sldMk cId="3076193877" sldId="444"/>
        </pc:sldMkLst>
        <pc:graphicFrameChg chg="mod modGraphic">
          <ac:chgData name="Tyler Leiss" userId="a54949c00170af13" providerId="LiveId" clId="{7CC8C96F-B8A1-41C6-AE4C-B6A8429ECD56}" dt="2026-06-19T03:54:33.530" v="54" actId="1076"/>
          <ac:graphicFrameMkLst>
            <pc:docMk/>
            <pc:sldMk cId="3076193877" sldId="444"/>
            <ac:graphicFrameMk id="10" creationId="{CCA34867-9870-4A1A-80F4-C82653D2FB43}"/>
          </ac:graphicFrameMkLst>
        </pc:graphicFrameChg>
      </pc:sldChg>
      <pc:sldChg chg="del">
        <pc:chgData name="Tyler Leiss" userId="a54949c00170af13" providerId="LiveId" clId="{7CC8C96F-B8A1-41C6-AE4C-B6A8429ECD56}" dt="2026-06-19T03:53:04.589" v="44" actId="47"/>
        <pc:sldMkLst>
          <pc:docMk/>
          <pc:sldMk cId="898956213" sldId="453"/>
        </pc:sldMkLst>
      </pc:sldChg>
      <pc:sldChg chg="del">
        <pc:chgData name="Tyler Leiss" userId="a54949c00170af13" providerId="LiveId" clId="{7CC8C96F-B8A1-41C6-AE4C-B6A8429ECD56}" dt="2026-06-19T03:49:36.261" v="40" actId="47"/>
        <pc:sldMkLst>
          <pc:docMk/>
          <pc:sldMk cId="988662460" sldId="570"/>
        </pc:sldMkLst>
      </pc:sldChg>
      <pc:sldChg chg="del">
        <pc:chgData name="Tyler Leiss" userId="a54949c00170af13" providerId="LiveId" clId="{7CC8C96F-B8A1-41C6-AE4C-B6A8429ECD56}" dt="2026-06-19T03:37:19.219" v="1" actId="47"/>
        <pc:sldMkLst>
          <pc:docMk/>
          <pc:sldMk cId="3905137095" sldId="582"/>
        </pc:sldMkLst>
      </pc:sldChg>
      <pc:sldChg chg="del">
        <pc:chgData name="Tyler Leiss" userId="a54949c00170af13" providerId="LiveId" clId="{7CC8C96F-B8A1-41C6-AE4C-B6A8429ECD56}" dt="2026-06-19T03:37:29.785" v="3" actId="47"/>
        <pc:sldMkLst>
          <pc:docMk/>
          <pc:sldMk cId="2300614270" sldId="586"/>
        </pc:sldMkLst>
      </pc:sldChg>
      <pc:sldChg chg="del">
        <pc:chgData name="Tyler Leiss" userId="a54949c00170af13" providerId="LiveId" clId="{7CC8C96F-B8A1-41C6-AE4C-B6A8429ECD56}" dt="2026-06-19T03:37:21.203" v="2" actId="47"/>
        <pc:sldMkLst>
          <pc:docMk/>
          <pc:sldMk cId="3057735810" sldId="596"/>
        </pc:sldMkLst>
      </pc:sldChg>
      <pc:sldChg chg="modSp add del mod setBg">
        <pc:chgData name="Tyler Leiss" userId="a54949c00170af13" providerId="LiveId" clId="{7CC8C96F-B8A1-41C6-AE4C-B6A8429ECD56}" dt="2026-06-19T03:49:50.036" v="43" actId="47"/>
        <pc:sldMkLst>
          <pc:docMk/>
          <pc:sldMk cId="3545241295" sldId="598"/>
        </pc:sldMkLst>
        <pc:spChg chg="mod">
          <ac:chgData name="Tyler Leiss" userId="a54949c00170af13" providerId="LiveId" clId="{7CC8C96F-B8A1-41C6-AE4C-B6A8429ECD56}" dt="2026-06-19T03:47:55.947" v="12" actId="13926"/>
          <ac:spMkLst>
            <pc:docMk/>
            <pc:sldMk cId="3545241295" sldId="598"/>
            <ac:spMk id="8" creationId="{00CFECED-DD63-9F9C-CD42-B60B07F82436}"/>
          </ac:spMkLst>
        </pc:spChg>
        <pc:spChg chg="mod">
          <ac:chgData name="Tyler Leiss" userId="a54949c00170af13" providerId="LiveId" clId="{7CC8C96F-B8A1-41C6-AE4C-B6A8429ECD56}" dt="2026-06-19T03:47:50.731" v="11"/>
          <ac:spMkLst>
            <pc:docMk/>
            <pc:sldMk cId="3545241295" sldId="598"/>
            <ac:spMk id="14" creationId="{0F81C673-8501-4082-3651-6E698F1E9211}"/>
          </ac:spMkLst>
        </pc:spChg>
      </pc:sldChg>
      <pc:sldChg chg="modSp add setBg">
        <pc:chgData name="Tyler Leiss" userId="a54949c00170af13" providerId="LiveId" clId="{7CC8C96F-B8A1-41C6-AE4C-B6A8429ECD56}" dt="2026-06-19T03:49:48.370" v="42"/>
        <pc:sldMkLst>
          <pc:docMk/>
          <pc:sldMk cId="2685996894" sldId="599"/>
        </pc:sldMkLst>
        <pc:spChg chg="mod">
          <ac:chgData name="Tyler Leiss" userId="a54949c00170af13" providerId="LiveId" clId="{7CC8C96F-B8A1-41C6-AE4C-B6A8429ECD56}" dt="2026-06-19T03:49:48.370" v="42"/>
          <ac:spMkLst>
            <pc:docMk/>
            <pc:sldMk cId="2685996894" sldId="599"/>
            <ac:spMk id="14" creationId="{2EC6B584-4E7D-F305-BF4A-C330C2BBD7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04B2B-427D-499E-BE59-2161A748D0E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06643-F1E7-4916-A109-C3E8E48BA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6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CF0DC1-3DBE-4CED-BF6D-C5947B5E0A1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867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F068-C864-4B86-8903-6246D40128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04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31EA-5C1F-F236-8D09-0E6A87F2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4D97D-BD66-866F-632D-54ACECC4C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E45E9-E28A-7E0E-36C4-FBB64EC17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DB989-746E-3C5D-EE26-F7D5A3A39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BDB7A3-54BE-46AC-A7C3-674C586243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7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924D-B587-5A77-ACF1-8294FC59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B778A-F757-E767-D9A7-26A4A1D92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73327-1330-5176-2379-2BB4381C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38332-C324-D55F-15D4-BBBA453BE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BDB7A3-54BE-46AC-A7C3-674C586243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13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93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40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46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66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948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F470-2ACF-8048-8C92-3506F8EB4CA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3F0B-545A-CA4E-B46A-A06DB5D94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4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57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79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77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81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4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72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61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18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969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68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4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22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1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82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85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13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5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27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13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83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54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4"/>
            <a:ext cx="3934778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738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771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885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719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604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2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07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71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9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1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89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71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257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338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814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394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7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89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147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324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370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45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323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918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972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816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389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809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950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723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791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711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991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817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700E-A2AF-4F46-B39F-E06FDAEA18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C085-772A-42CE-8A2E-C15E77320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486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66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2980" y="286511"/>
            <a:ext cx="5806439" cy="856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5F9FA"/>
                </a:solidFill>
                <a:latin typeface="Bebas Neue"/>
                <a:cs typeface="Bebas Neu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266" y="2062988"/>
            <a:ext cx="6642100" cy="314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12F5E-BCE1-4959-8BF6-F2904AF6C69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2F3AB-7760-43EC-BA24-78BCDCFFB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2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6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1B80-8B00-468E-99BA-33CEFD061F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BEE4E-249D-4526-BA0E-CF06C09D3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8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368A7-3FBA-4536-A7A8-9234CA9BB8E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73471-F0F4-44CD-A7B9-CDBD5EA72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1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C138369F-6709-4972-BE14-BDF86EA1E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366280"/>
              </p:ext>
            </p:extLst>
          </p:nvPr>
        </p:nvGraphicFramePr>
        <p:xfrm>
          <a:off x="611743" y="1974299"/>
          <a:ext cx="6453261" cy="4556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85121">
                  <a:extLst>
                    <a:ext uri="{9D8B030D-6E8A-4147-A177-3AD203B41FA5}">
                      <a16:colId xmlns:a16="http://schemas.microsoft.com/office/drawing/2014/main" val="1500008090"/>
                    </a:ext>
                  </a:extLst>
                </a:gridCol>
                <a:gridCol w="767115">
                  <a:extLst>
                    <a:ext uri="{9D8B030D-6E8A-4147-A177-3AD203B41FA5}">
                      <a16:colId xmlns:a16="http://schemas.microsoft.com/office/drawing/2014/main" val="892847457"/>
                    </a:ext>
                  </a:extLst>
                </a:gridCol>
                <a:gridCol w="701025">
                  <a:extLst>
                    <a:ext uri="{9D8B030D-6E8A-4147-A177-3AD203B41FA5}">
                      <a16:colId xmlns:a16="http://schemas.microsoft.com/office/drawing/2014/main" val="2343930477"/>
                    </a:ext>
                  </a:extLst>
                </a:gridCol>
              </a:tblGrid>
              <a:tr h="4465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SEARED AHI TUNA*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mazon Ember" panose="020B0603020204020204"/>
                          <a:ea typeface="+mn-ea"/>
                          <a:cs typeface="+mn-cs"/>
                        </a:rPr>
                        <a:t>seared rare blackened ahi tuna, black bean succotash, cilantro lime sauce, coconut basmati rice, fried plantain chip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620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15.50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34416"/>
                  </a:ext>
                </a:extLst>
              </a:tr>
              <a:tr h="4465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STEELHEAD B.L.T.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grilled steelhead, bacon, lemon dill aioli, butter bibb, tomato on sourdough bread</a:t>
                      </a:r>
                      <a:b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served with your choice of side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600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14.95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16210"/>
                  </a:ext>
                </a:extLst>
              </a:tr>
              <a:tr h="5672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BEEF + MAITAKE BURGER 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beef patty, seared maitake mushrooms, provolone cheese, umami sauce, arugula, red onions on a brioche bun</a:t>
                      </a:r>
                      <a:b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served with your choice of side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780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13.30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5639"/>
                  </a:ext>
                </a:extLst>
              </a:tr>
              <a:tr h="4465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BRIE + CHICKEN SANDWICH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grilled chicken breast, brie cheese, cherry relish, </a:t>
                      </a:r>
                      <a:r>
                        <a:rPr 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dijonaise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, arugula lettuce, red onion on a brioche bun</a:t>
                      </a:r>
                      <a:b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served with your choice of side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670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l" defTabSz="77724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11.75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318031"/>
                  </a:ext>
                </a:extLst>
              </a:tr>
              <a:tr h="5672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COBB SALAD </a:t>
                      </a:r>
                      <a:r>
                        <a:rPr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V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romaine + bibb lettuce, arcadian greens, chopped egg, corn, cucumber, red onions, </a:t>
                      </a:r>
                      <a:b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</a:rPr>
                      </a:b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grape tomatoes, rosemary dill croutons with choice of dressing</a:t>
                      </a:r>
                      <a:b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</a:rPr>
                      </a:b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</a:rPr>
                        <a:t>add chicken +4.45  |  add steelhead +4.45</a:t>
                      </a:r>
                      <a:endParaRPr kumimoji="0"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450 </a:t>
                      </a:r>
                      <a:r>
                        <a:rPr lang="en-US" sz="11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 9.20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805700"/>
                  </a:ext>
                </a:extLst>
              </a:tr>
              <a:tr h="5672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BEECHER’S MAC + CHEESE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cavatappi noodles with creamy </a:t>
                      </a:r>
                      <a:r>
                        <a:rPr kumimoji="0" 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beecher’s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cheese sauce, chili herb crunch gremolata, tomato confit</a:t>
                      </a:r>
                      <a:b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add chicken +4.50  |  add arugula &amp; caramelized onions +1.50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820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9.20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84249"/>
                  </a:ext>
                </a:extLst>
              </a:tr>
              <a:tr h="44652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STEELHEAD &amp; SALMON CHOWDER BREAD BOWL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smoked salmon, steelhead, potatoes, corn, caramelized sweet onion, citrus, </a:t>
                      </a:r>
                      <a:b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pink peppercorn and fried leeks served in bread bowl</a:t>
                      </a:r>
                      <a:r>
                        <a:rPr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served with a fennel salad 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750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kumimoji="0" lang="en-US" sz="1100" b="1" i="0" u="none" strike="noStrike" kern="1200" cap="none" spc="0" normalizeH="0" baseline="0" dirty="0" err="1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13.30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8521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22FE60B-A549-EB13-349A-C7562562AA8F}"/>
              </a:ext>
            </a:extLst>
          </p:cNvPr>
          <p:cNvSpPr/>
          <p:nvPr/>
        </p:nvSpPr>
        <p:spPr>
          <a:xfrm>
            <a:off x="419450" y="360728"/>
            <a:ext cx="6946084" cy="9311778"/>
          </a:xfrm>
          <a:prstGeom prst="rect">
            <a:avLst/>
          </a:prstGeom>
          <a:noFill/>
          <a:ln w="76200">
            <a:solidFill>
              <a:srgbClr val="B461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BA39DD9C-1457-4127-4122-18E6A71FCE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99"/>
          <a:stretch/>
        </p:blipFill>
        <p:spPr>
          <a:xfrm>
            <a:off x="398782" y="1312600"/>
            <a:ext cx="2301460" cy="700308"/>
          </a:xfrm>
          <a:prstGeom prst="rect">
            <a:avLst/>
          </a:prstGeom>
        </p:spPr>
      </p:pic>
      <p:pic>
        <p:nvPicPr>
          <p:cNvPr id="48" name="Picture 47" descr="A picture containing font, graphics, logo, typography&#10;&#10;Description automatically generated">
            <a:extLst>
              <a:ext uri="{FF2B5EF4-FFF2-40B4-BE49-F238E27FC236}">
                <a16:creationId xmlns:a16="http://schemas.microsoft.com/office/drawing/2014/main" id="{2E317D33-ECC0-90D5-71F9-996E2D89B5D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95"/>
          <a:stretch/>
        </p:blipFill>
        <p:spPr>
          <a:xfrm>
            <a:off x="398782" y="7701614"/>
            <a:ext cx="1485222" cy="691006"/>
          </a:xfrm>
          <a:prstGeom prst="rect">
            <a:avLst/>
          </a:prstGeom>
        </p:spPr>
      </p:pic>
      <p:sp>
        <p:nvSpPr>
          <p:cNvPr id="60" name="object 8">
            <a:extLst>
              <a:ext uri="{FF2B5EF4-FFF2-40B4-BE49-F238E27FC236}">
                <a16:creationId xmlns:a16="http://schemas.microsoft.com/office/drawing/2014/main" id="{8C784B3A-782A-4C5B-967A-5DACA504CFD1}"/>
              </a:ext>
            </a:extLst>
          </p:cNvPr>
          <p:cNvSpPr txBox="1"/>
          <p:nvPr/>
        </p:nvSpPr>
        <p:spPr>
          <a:xfrm>
            <a:off x="707398" y="9207658"/>
            <a:ext cx="654989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Vegan </a:t>
            </a: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Vegetarian</a:t>
            </a: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2000</a:t>
            </a:r>
            <a:r>
              <a:rPr kumimoji="0" sz="800" b="0" i="0" u="none" strike="noStrike" kern="1200" cap="none" spc="3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calories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day</a:t>
            </a:r>
            <a:r>
              <a:rPr kumimoji="0" sz="800" b="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is</a:t>
            </a:r>
            <a:r>
              <a:rPr kumimoji="0" sz="8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used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for</a:t>
            </a:r>
            <a:r>
              <a:rPr kumimoji="0" sz="800" b="0" i="0" u="none" strike="noStrike" kern="1200" cap="none" spc="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general</a:t>
            </a:r>
            <a:r>
              <a:rPr kumimoji="0" sz="800" b="0" i="0" u="none" strike="noStrike" kern="1200" cap="none" spc="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advice,</a:t>
            </a:r>
            <a:r>
              <a:rPr kumimoji="0" sz="800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but </a:t>
            </a:r>
            <a:r>
              <a:rPr kumimoji="0" sz="800" b="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</a:t>
            </a:r>
            <a:r>
              <a:rPr kumimoji="0" sz="800" b="0" i="0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needs</a:t>
            </a:r>
            <a:r>
              <a:rPr kumimoji="0" sz="800" b="0" i="0" u="none" strike="noStrike" kern="1200" cap="none" spc="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vary.</a:t>
            </a:r>
            <a:r>
              <a:rPr kumimoji="0" sz="800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3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Additional</a:t>
            </a:r>
            <a:r>
              <a:rPr kumimoji="0" sz="800" b="0" i="0" u="none" strike="noStrike" kern="1200" cap="none" spc="-7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sz="8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3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information</a:t>
            </a:r>
            <a:r>
              <a:rPr kumimoji="0" sz="800" b="0" i="0" u="none" strike="noStrike" kern="1200" cap="none" spc="-7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available</a:t>
            </a:r>
            <a:r>
              <a:rPr kumimoji="0" lang="en-US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upon</a:t>
            </a:r>
            <a:r>
              <a:rPr kumimoji="0" sz="800" b="0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request.</a:t>
            </a:r>
            <a:r>
              <a:rPr kumimoji="0" sz="800" b="0" i="0" u="none" strike="noStrike" kern="1200" cap="none" spc="4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*</a:t>
            </a:r>
            <a:r>
              <a:rPr kumimoji="0" sz="800" b="0" i="1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Consuming</a:t>
            </a:r>
            <a:r>
              <a:rPr kumimoji="0" sz="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raw</a:t>
            </a:r>
            <a:r>
              <a:rPr kumimoji="0" sz="800" b="0" i="1" u="none" strike="noStrike" kern="1200" cap="none" spc="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or</a:t>
            </a:r>
            <a:r>
              <a:rPr kumimoji="0" sz="800" b="0" i="1" u="none" strike="noStrike" kern="1200" cap="none" spc="-2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undercooked</a:t>
            </a:r>
            <a:r>
              <a:rPr kumimoji="0" sz="800" b="0" i="1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meats,</a:t>
            </a:r>
            <a:r>
              <a:rPr kumimoji="0" sz="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poultry,</a:t>
            </a:r>
            <a:r>
              <a:rPr kumimoji="0" sz="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seafood,</a:t>
            </a:r>
            <a:r>
              <a:rPr kumimoji="0" sz="800" b="0" i="1" u="none" strike="noStrike" kern="1200" cap="none" spc="-2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shellfish</a:t>
            </a:r>
            <a:r>
              <a:rPr kumimoji="0" sz="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or</a:t>
            </a:r>
            <a:r>
              <a:rPr kumimoji="0" sz="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eggs</a:t>
            </a:r>
            <a:r>
              <a:rPr kumimoji="0" sz="800" b="0" i="1" u="none" strike="noStrike" kern="1200" cap="none" spc="-2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may</a:t>
            </a:r>
            <a:r>
              <a:rPr kumimoji="0" sz="800" b="0" i="1" u="none" strike="noStrike" kern="1200" cap="none" spc="-1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increase</a:t>
            </a:r>
            <a:r>
              <a:rPr kumimoji="0" sz="800" b="0" i="1" u="none" strike="noStrike" kern="1200" cap="none" spc="-2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your</a:t>
            </a:r>
            <a:r>
              <a:rPr kumimoji="0" sz="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risk</a:t>
            </a:r>
            <a:r>
              <a:rPr kumimoji="0" sz="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of</a:t>
            </a:r>
            <a:r>
              <a:rPr kumimoji="0" sz="800" b="0" i="1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2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foodborne</a:t>
            </a:r>
            <a:r>
              <a:rPr kumimoji="0" sz="800" b="0" i="1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sz="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illness,</a:t>
            </a:r>
            <a:r>
              <a:rPr kumimoji="0" lang="en-US" sz="800" b="0" i="1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especially if you have medical conditions.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2A8317A0-81F8-43F4-8D45-53AB4E68B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23916"/>
              </p:ext>
            </p:extLst>
          </p:nvPr>
        </p:nvGraphicFramePr>
        <p:xfrm>
          <a:off x="612208" y="8368695"/>
          <a:ext cx="6453261" cy="8385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97395">
                  <a:extLst>
                    <a:ext uri="{9D8B030D-6E8A-4147-A177-3AD203B41FA5}">
                      <a16:colId xmlns:a16="http://schemas.microsoft.com/office/drawing/2014/main" val="1500008090"/>
                    </a:ext>
                  </a:extLst>
                </a:gridCol>
                <a:gridCol w="816210">
                  <a:extLst>
                    <a:ext uri="{9D8B030D-6E8A-4147-A177-3AD203B41FA5}">
                      <a16:colId xmlns:a16="http://schemas.microsoft.com/office/drawing/2014/main" val="892847457"/>
                    </a:ext>
                  </a:extLst>
                </a:gridCol>
                <a:gridCol w="639656">
                  <a:extLst>
                    <a:ext uri="{9D8B030D-6E8A-4147-A177-3AD203B41FA5}">
                      <a16:colId xmlns:a16="http://schemas.microsoft.com/office/drawing/2014/main" val="2343930477"/>
                    </a:ext>
                  </a:extLst>
                </a:gridCol>
              </a:tblGrid>
              <a:tr h="2594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SEASONED WAFFLE FRIES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350 cal</a:t>
                      </a:r>
                      <a:endParaRPr kumimoji="0" lang="en-US" sz="11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2.55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31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SIDE SALAD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blended greens, grape tomatoes, red onions, radish, croutons with your </a:t>
                      </a:r>
                      <a:b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</a:b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choice of dressing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120 cal</a:t>
                      </a:r>
                      <a:endParaRPr kumimoji="0" lang="en-US" sz="1100" b="1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2.55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8424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495BABB-74B6-4DA9-A043-8D81856170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868" y="541139"/>
            <a:ext cx="2966664" cy="76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796EC8-3E3C-4196-AE57-862F0E1F29F9}"/>
              </a:ext>
            </a:extLst>
          </p:cNvPr>
          <p:cNvSpPr txBox="1"/>
          <p:nvPr/>
        </p:nvSpPr>
        <p:spPr>
          <a:xfrm>
            <a:off x="8636000" y="736600"/>
            <a:ext cx="309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2 offerings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CA34867-9870-4A1A-80F4-C82653D2FB43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138901"/>
          <a:ext cx="6694958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7479">
                  <a:extLst>
                    <a:ext uri="{9D8B030D-6E8A-4147-A177-3AD203B41FA5}">
                      <a16:colId xmlns:a16="http://schemas.microsoft.com/office/drawing/2014/main" val="2775607949"/>
                    </a:ext>
                  </a:extLst>
                </a:gridCol>
                <a:gridCol w="3347479">
                  <a:extLst>
                    <a:ext uri="{9D8B030D-6E8A-4147-A177-3AD203B41FA5}">
                      <a16:colId xmlns:a16="http://schemas.microsoft.com/office/drawing/2014/main" val="1440213238"/>
                    </a:ext>
                  </a:extLst>
                </a:gridCol>
              </a:tblGrid>
              <a:tr h="18378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 Medium" panose="020B0603020204020204" pitchFamily="34" charset="0"/>
                          <a:ea typeface="Amazon Ember Medium" panose="020B0603020204020204" pitchFamily="34" charset="0"/>
                          <a:cs typeface="Amazon Ember Medium" panose="020B0603020204020204" pitchFamily="34" charset="0"/>
                        </a:rPr>
                        <a:t>FRESH 5: BLACK BEAN BURGER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 black bean burger topped with lettuce blend, onion and tomato on brioche bun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410 </a:t>
                      </a:r>
                      <a:r>
                        <a:rPr lang="en-US" sz="16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5.00 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 Medium" panose="020B0603020204020204" pitchFamily="34" charset="0"/>
                          <a:ea typeface="Amazon Ember Medium" panose="020B0603020204020204" pitchFamily="34" charset="0"/>
                          <a:cs typeface="Amazon Ember Medium" panose="020B0603020204020204" pitchFamily="34" charset="0"/>
                        </a:rPr>
                        <a:t>FRESH 5: BLACKENED CHICKEN CAESAR WRAP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 blackened chicken with fresh lettuce blend, parmesan cheese and creamy </a:t>
                      </a:r>
                      <a:r>
                        <a:rPr lang="en-US" sz="16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caesar</a:t>
                      </a: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dressing in tortilla wrap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600 </a:t>
                      </a:r>
                      <a:r>
                        <a:rPr lang="en-US" sz="16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 5.00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50819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AF0416F-CE4B-4C8A-80AA-DF7F51D3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08" y="1382931"/>
            <a:ext cx="4066384" cy="7559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26B733-7D6C-478C-BBEB-DF1E73C078AE}"/>
              </a:ext>
            </a:extLst>
          </p:cNvPr>
          <p:cNvGraphicFramePr>
            <a:graphicFrameLocks noGrp="1"/>
          </p:cNvGraphicFramePr>
          <p:nvPr/>
        </p:nvGraphicFramePr>
        <p:xfrm>
          <a:off x="534988" y="5495461"/>
          <a:ext cx="6453261" cy="259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85121">
                  <a:extLst>
                    <a:ext uri="{9D8B030D-6E8A-4147-A177-3AD203B41FA5}">
                      <a16:colId xmlns:a16="http://schemas.microsoft.com/office/drawing/2014/main" val="1763749129"/>
                    </a:ext>
                  </a:extLst>
                </a:gridCol>
                <a:gridCol w="767115">
                  <a:extLst>
                    <a:ext uri="{9D8B030D-6E8A-4147-A177-3AD203B41FA5}">
                      <a16:colId xmlns:a16="http://schemas.microsoft.com/office/drawing/2014/main" val="3729881055"/>
                    </a:ext>
                  </a:extLst>
                </a:gridCol>
                <a:gridCol w="701025">
                  <a:extLst>
                    <a:ext uri="{9D8B030D-6E8A-4147-A177-3AD203B41FA5}">
                      <a16:colId xmlns:a16="http://schemas.microsoft.com/office/drawing/2014/main" val="3619517729"/>
                    </a:ext>
                  </a:extLst>
                </a:gridCol>
              </a:tblGrid>
              <a:tr h="23390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56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16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F4A962-D145-5341-A1E7-1DDC22772100}"/>
              </a:ext>
            </a:extLst>
          </p:cNvPr>
          <p:cNvSpPr/>
          <p:nvPr/>
        </p:nvSpPr>
        <p:spPr>
          <a:xfrm>
            <a:off x="350729" y="526094"/>
            <a:ext cx="7127309" cy="3795326"/>
          </a:xfrm>
          <a:prstGeom prst="rect">
            <a:avLst/>
          </a:prstGeom>
          <a:noFill/>
          <a:ln w="79375">
            <a:solidFill>
              <a:srgbClr val="B2E1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B3BA64-6377-7B4F-B977-F22E8CFBB2B3}"/>
              </a:ext>
            </a:extLst>
          </p:cNvPr>
          <p:cNvSpPr/>
          <p:nvPr/>
        </p:nvSpPr>
        <p:spPr>
          <a:xfrm>
            <a:off x="2480153" y="325677"/>
            <a:ext cx="2755725" cy="400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2A1CEA-C6BE-7A45-9551-03B18E34C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845" y="-105539"/>
            <a:ext cx="3149049" cy="2164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E8C337-C7BC-B549-B21B-AA727130538D}"/>
              </a:ext>
            </a:extLst>
          </p:cNvPr>
          <p:cNvSpPr txBox="1"/>
          <p:nvPr/>
        </p:nvSpPr>
        <p:spPr>
          <a:xfrm>
            <a:off x="612475" y="1855368"/>
            <a:ext cx="3070177" cy="23237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BURRITO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fresh pressed tortilla with cilantro lime rice, shredded romaine and your choice of proteins, beans and toppers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515 CAL / 11.55 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QUESADILLA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fresh pressed tortilla with our 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cheese blend and your choice of 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protein and toppers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675 CAL / </a:t>
            </a:r>
            <a:r>
              <a:rPr lang="en-US" sz="1300" dirty="0"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10.20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  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529D8-789B-DA44-800C-10DB6A7090D6}"/>
              </a:ext>
            </a:extLst>
          </p:cNvPr>
          <p:cNvSpPr txBox="1"/>
          <p:nvPr/>
        </p:nvSpPr>
        <p:spPr>
          <a:xfrm>
            <a:off x="4213177" y="1855368"/>
            <a:ext cx="3009378" cy="21313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TACOS (3)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three tacos with shredded romaine and your choice of protein and toppers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210 CAL / </a:t>
            </a:r>
            <a:r>
              <a:rPr lang="en-US" sz="1300" dirty="0"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10.20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BURRITO BOWL 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chopped romaine, cilantro lime rice, and your choice of protein, beans and toppings, with a tortilla on the side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515 CAL / 11.55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13BCE-3105-204B-9FAC-3CD9897A0E96}"/>
              </a:ext>
            </a:extLst>
          </p:cNvPr>
          <p:cNvSpPr txBox="1"/>
          <p:nvPr/>
        </p:nvSpPr>
        <p:spPr>
          <a:xfrm>
            <a:off x="350729" y="5363123"/>
            <a:ext cx="1949410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AL PASTOR PORK</a:t>
            </a:r>
            <a:b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+250 CAL</a:t>
            </a:r>
            <a:b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b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GRILLED CHICKEN</a:t>
            </a:r>
            <a:b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+150 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30849-8ED2-CE43-91CE-9B54EAC2B1B5}"/>
              </a:ext>
            </a:extLst>
          </p:cNvPr>
          <p:cNvSpPr txBox="1"/>
          <p:nvPr/>
        </p:nvSpPr>
        <p:spPr>
          <a:xfrm>
            <a:off x="4120919" y="5277664"/>
            <a:ext cx="1844621" cy="18235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CHIPS 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+ SALSA 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VARIES CAL / 3.30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CHIPS + GUAC 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745 CAL / 5</a:t>
            </a: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.70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CHIPS + QUESO 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915 CAL / 5</a:t>
            </a: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.70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95DE32-6649-5645-BD15-62B911C4DD9A}"/>
              </a:ext>
            </a:extLst>
          </p:cNvPr>
          <p:cNvSpPr/>
          <p:nvPr/>
        </p:nvSpPr>
        <p:spPr>
          <a:xfrm>
            <a:off x="343478" y="8395786"/>
            <a:ext cx="7127309" cy="1136252"/>
          </a:xfrm>
          <a:prstGeom prst="rect">
            <a:avLst/>
          </a:prstGeom>
          <a:solidFill>
            <a:srgbClr val="B2E1E7"/>
          </a:solidFill>
          <a:ln w="79375">
            <a:solidFill>
              <a:srgbClr val="B2E1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3870A4-A1E6-8A4C-A188-12031B6CB524}"/>
              </a:ext>
            </a:extLst>
          </p:cNvPr>
          <p:cNvCxnSpPr>
            <a:cxnSpLocks/>
          </p:cNvCxnSpPr>
          <p:nvPr/>
        </p:nvCxnSpPr>
        <p:spPr>
          <a:xfrm flipH="1">
            <a:off x="350733" y="7322611"/>
            <a:ext cx="2561697" cy="0"/>
          </a:xfrm>
          <a:prstGeom prst="line">
            <a:avLst/>
          </a:prstGeom>
          <a:ln w="79375" cap="rnd">
            <a:solidFill>
              <a:srgbClr val="B2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F90059E7-6525-F846-AFF4-D2C58966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8" y="8610700"/>
            <a:ext cx="2277423" cy="66274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F44073C-0895-494A-96BD-39E510748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504" y="8576966"/>
            <a:ext cx="2170093" cy="8267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F1D74E-6989-9E46-9DB4-59D489DFED93}"/>
              </a:ext>
            </a:extLst>
          </p:cNvPr>
          <p:cNvSpPr txBox="1"/>
          <p:nvPr/>
        </p:nvSpPr>
        <p:spPr>
          <a:xfrm>
            <a:off x="5892285" y="5249779"/>
            <a:ext cx="1724160" cy="1577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QUESO 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220 CAL / 2.55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</a:rPr>
              <a:t>GUACAMOLE 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</a:rPr>
              <a:t>VN</a:t>
            </a:r>
            <a:b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</a:rPr>
            </a:b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</a:rPr>
              <a:t>250 CAL / 2.55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760B5-867B-FF45-B1F9-446BE2CA5829}"/>
              </a:ext>
            </a:extLst>
          </p:cNvPr>
          <p:cNvSpPr txBox="1"/>
          <p:nvPr/>
        </p:nvSpPr>
        <p:spPr>
          <a:xfrm>
            <a:off x="2077617" y="5372395"/>
            <a:ext cx="1669627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SOYRIZO  </a:t>
            </a: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+115 CAL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EXTRA PROTEIN</a:t>
            </a:r>
            <a:b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+4.50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F5C64E-5AE0-084B-94EF-0EE570706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492" y="6927750"/>
            <a:ext cx="2138781" cy="814774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5BC3FE2-A073-4F46-9CDB-6257A40C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236947"/>
              </p:ext>
            </p:extLst>
          </p:nvPr>
        </p:nvGraphicFramePr>
        <p:xfrm>
          <a:off x="397004" y="7539907"/>
          <a:ext cx="7132364" cy="105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939">
                  <a:extLst>
                    <a:ext uri="{9D8B030D-6E8A-4147-A177-3AD203B41FA5}">
                      <a16:colId xmlns:a16="http://schemas.microsoft.com/office/drawing/2014/main" val="2685848788"/>
                    </a:ext>
                  </a:extLst>
                </a:gridCol>
                <a:gridCol w="1843537">
                  <a:extLst>
                    <a:ext uri="{9D8B030D-6E8A-4147-A177-3AD203B41FA5}">
                      <a16:colId xmlns:a16="http://schemas.microsoft.com/office/drawing/2014/main" val="1436931366"/>
                    </a:ext>
                  </a:extLst>
                </a:gridCol>
                <a:gridCol w="1816386">
                  <a:extLst>
                    <a:ext uri="{9D8B030D-6E8A-4147-A177-3AD203B41FA5}">
                      <a16:colId xmlns:a16="http://schemas.microsoft.com/office/drawing/2014/main" val="2056962055"/>
                    </a:ext>
                  </a:extLst>
                </a:gridCol>
                <a:gridCol w="1418502">
                  <a:extLst>
                    <a:ext uri="{9D8B030D-6E8A-4147-A177-3AD203B41FA5}">
                      <a16:colId xmlns:a16="http://schemas.microsoft.com/office/drawing/2014/main" val="1467244362"/>
                    </a:ext>
                  </a:extLst>
                </a:gridCol>
              </a:tblGrid>
              <a:tr h="211953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BLACK BEANS 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200">
                        <a:solidFill>
                          <a:srgbClr val="00B050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Amazon Ember"/>
                        </a:rPr>
                        <a:t>150 CAL / 2.55 </a:t>
                      </a:r>
                      <a:endParaRPr lang="en-US" sz="1200" b="1" i="0" u="none" strike="noStrike" noProof="0" dirty="0">
                        <a:solidFill>
                          <a:srgbClr val="FFFFFF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SIDE QUESO 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200">
                        <a:solidFill>
                          <a:srgbClr val="00B050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Amazon Ember"/>
                        </a:rPr>
                        <a:t>220 CAL 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Amazon Ember"/>
                        </a:rPr>
                        <a:t>/ 2.55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endParaRPr lang="en-US" sz="1200" dirty="0"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863895"/>
                  </a:ext>
                </a:extLst>
              </a:tr>
              <a:tr h="261763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PINTO BEANS </a:t>
                      </a:r>
                      <a:r>
                        <a:rPr lang="en-US" sz="1200" b="1">
                          <a:solidFill>
                            <a:srgbClr val="00B050"/>
                          </a:solidFill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200">
                        <a:solidFill>
                          <a:srgbClr val="00B050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Amazon Ember"/>
                        </a:rPr>
                        <a:t>145 CAL / 2.55 </a:t>
                      </a:r>
                      <a:endParaRPr lang="en-US" sz="1200" b="1" i="0" u="none" strike="noStrike" noProof="0" dirty="0">
                        <a:solidFill>
                          <a:srgbClr val="FFFFFF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mazon Ember"/>
                        </a:rPr>
                        <a:t>CILANTRO LIME RICE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Amazon Ember"/>
                        </a:rPr>
                        <a:t>VN</a:t>
                      </a:r>
                      <a:endParaRPr lang="en-US" sz="1200" dirty="0">
                        <a:solidFill>
                          <a:srgbClr val="00B050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Amazon Ember"/>
                        </a:rPr>
                        <a:t>190 CAL / 2.55 </a:t>
                      </a:r>
                      <a:endParaRPr lang="en-US" sz="1200" b="1" i="0" u="none" strike="noStrike" noProof="0" dirty="0">
                        <a:solidFill>
                          <a:srgbClr val="FFFFFF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451250"/>
                  </a:ext>
                </a:extLst>
              </a:tr>
              <a:tr h="326714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00B050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>
                        <a:solidFill>
                          <a:schemeClr val="tx1"/>
                        </a:solidFill>
                        <a:latin typeface="Amazon Ember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947624"/>
                  </a:ext>
                </a:extLst>
              </a:tr>
            </a:tbl>
          </a:graphicData>
        </a:graphic>
      </p:graphicFrame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B0C794B-E691-E140-AA7F-235F7F12C685}"/>
              </a:ext>
            </a:extLst>
          </p:cNvPr>
          <p:cNvCxnSpPr>
            <a:cxnSpLocks/>
          </p:cNvCxnSpPr>
          <p:nvPr/>
        </p:nvCxnSpPr>
        <p:spPr>
          <a:xfrm flipH="1">
            <a:off x="4586697" y="7322611"/>
            <a:ext cx="2884092" cy="0"/>
          </a:xfrm>
          <a:prstGeom prst="line">
            <a:avLst/>
          </a:prstGeom>
          <a:ln w="79375" cap="rnd">
            <a:solidFill>
              <a:srgbClr val="B2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4D0443C-7658-B94F-8E0E-FBA6B4F12C73}"/>
              </a:ext>
            </a:extLst>
          </p:cNvPr>
          <p:cNvCxnSpPr>
            <a:cxnSpLocks/>
          </p:cNvCxnSpPr>
          <p:nvPr/>
        </p:nvCxnSpPr>
        <p:spPr>
          <a:xfrm flipH="1" flipV="1">
            <a:off x="3825798" y="4589079"/>
            <a:ext cx="32217" cy="2291916"/>
          </a:xfrm>
          <a:prstGeom prst="line">
            <a:avLst/>
          </a:prstGeom>
          <a:ln w="79375" cap="rnd">
            <a:solidFill>
              <a:srgbClr val="B2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845FEA7-5291-414E-9C55-F18B9DAA0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97" y="4482973"/>
            <a:ext cx="2631766" cy="8772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B73D5A-EFDF-204F-B1D7-98C54FC2C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3725" y="4457155"/>
            <a:ext cx="3357119" cy="87895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F91986-3C66-BF4F-A60B-FFCE064E9D76}"/>
              </a:ext>
            </a:extLst>
          </p:cNvPr>
          <p:cNvCxnSpPr>
            <a:cxnSpLocks/>
          </p:cNvCxnSpPr>
          <p:nvPr/>
        </p:nvCxnSpPr>
        <p:spPr>
          <a:xfrm flipH="1">
            <a:off x="5187945" y="526093"/>
            <a:ext cx="2282842" cy="0"/>
          </a:xfrm>
          <a:prstGeom prst="line">
            <a:avLst/>
          </a:prstGeom>
          <a:ln w="79375" cap="rnd">
            <a:solidFill>
              <a:srgbClr val="B2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621079-B386-EE41-8FAE-78796B6C0961}"/>
              </a:ext>
            </a:extLst>
          </p:cNvPr>
          <p:cNvCxnSpPr>
            <a:cxnSpLocks/>
          </p:cNvCxnSpPr>
          <p:nvPr/>
        </p:nvCxnSpPr>
        <p:spPr>
          <a:xfrm flipH="1">
            <a:off x="440580" y="526093"/>
            <a:ext cx="2188912" cy="0"/>
          </a:xfrm>
          <a:prstGeom prst="line">
            <a:avLst/>
          </a:prstGeom>
          <a:ln w="79375" cap="rnd">
            <a:solidFill>
              <a:srgbClr val="B2E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B3B847-8715-4C56-A319-8E638A29E266}"/>
              </a:ext>
            </a:extLst>
          </p:cNvPr>
          <p:cNvSpPr txBox="1"/>
          <p:nvPr/>
        </p:nvSpPr>
        <p:spPr>
          <a:xfrm>
            <a:off x="1910915" y="8508396"/>
            <a:ext cx="214537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roasted corn salsa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35 CAL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salsa 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roja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80 CAL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salsa 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verde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 CAL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habanero salsa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15 CAL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rPr>
              <a:t>pico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rPr>
              <a:t> de 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rPr>
              <a:t>gallo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</a:rPr>
              <a:t>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</a:rPr>
              <a:t>25 CAL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CABBF7-617A-4637-92B4-4138B79D8FE7}"/>
              </a:ext>
            </a:extLst>
          </p:cNvPr>
          <p:cNvSpPr txBox="1"/>
          <p:nvPr/>
        </p:nvSpPr>
        <p:spPr>
          <a:xfrm>
            <a:off x="5513282" y="8560383"/>
            <a:ext cx="214537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sour cream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110 CAL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shredded romaine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 CAL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diced tomatoes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 CAL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diced jalapeños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VN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10 CAL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F7F6F28-BCB0-BFA8-5066-0B30A88B742E}"/>
              </a:ext>
            </a:extLst>
          </p:cNvPr>
          <p:cNvSpPr txBox="1"/>
          <p:nvPr/>
        </p:nvSpPr>
        <p:spPr>
          <a:xfrm>
            <a:off x="341457" y="9609134"/>
            <a:ext cx="7124572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Calibri"/>
                <a:cs typeface="Calibri"/>
              </a:rPr>
              <a:t>V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Calibri"/>
                <a:cs typeface="Calibri"/>
              </a:rPr>
              <a:t> vegetarian 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Calibri"/>
                <a:cs typeface="Calibri"/>
              </a:rPr>
              <a:t>VN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Calibri"/>
                <a:cs typeface="Calibri"/>
              </a:rPr>
              <a:t> vegan</a:t>
            </a:r>
          </a:p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Calibri"/>
                <a:cs typeface="Calibri"/>
              </a:rPr>
              <a:t>2000 calories is used as general nutrition advice, but calorie needs may vary. Additional nutrition information available upon request. 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4282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7D77D7-9C36-47E8-83B1-9F63E856BBE2}"/>
              </a:ext>
            </a:extLst>
          </p:cNvPr>
          <p:cNvSpPr/>
          <p:nvPr/>
        </p:nvSpPr>
        <p:spPr>
          <a:xfrm>
            <a:off x="331202" y="262538"/>
            <a:ext cx="7017900" cy="1243139"/>
          </a:xfrm>
          <a:prstGeom prst="rect">
            <a:avLst/>
          </a:prstGeom>
          <a:noFill/>
          <a:ln w="57150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F55E5-B744-48A4-B5B6-FCDBF565C646}"/>
              </a:ext>
            </a:extLst>
          </p:cNvPr>
          <p:cNvSpPr txBox="1"/>
          <p:nvPr/>
        </p:nvSpPr>
        <p:spPr>
          <a:xfrm>
            <a:off x="2368101" y="2015237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THIS WEEK’S MENU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87197-3FC0-4809-92D0-1AEB68EF4503}"/>
              </a:ext>
            </a:extLst>
          </p:cNvPr>
          <p:cNvSpPr/>
          <p:nvPr/>
        </p:nvSpPr>
        <p:spPr>
          <a:xfrm>
            <a:off x="597762" y="3332740"/>
            <a:ext cx="6751340" cy="5735869"/>
          </a:xfrm>
          <a:prstGeom prst="rect">
            <a:avLst/>
          </a:prstGeom>
          <a:noFill/>
          <a:ln w="28575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3936CB-9226-4102-9A6F-E82C6D0853D6}"/>
              </a:ext>
            </a:extLst>
          </p:cNvPr>
          <p:cNvSpPr/>
          <p:nvPr/>
        </p:nvSpPr>
        <p:spPr>
          <a:xfrm>
            <a:off x="2215939" y="2983717"/>
            <a:ext cx="3460180" cy="708786"/>
          </a:xfrm>
          <a:prstGeom prst="rect">
            <a:avLst/>
          </a:prstGeom>
          <a:solidFill>
            <a:schemeClr val="bg1"/>
          </a:solidFill>
          <a:ln w="28575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Monday – Tuesday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996AB-8A5F-47A5-857E-95D8C0F05748}"/>
              </a:ext>
            </a:extLst>
          </p:cNvPr>
          <p:cNvSpPr txBox="1"/>
          <p:nvPr/>
        </p:nvSpPr>
        <p:spPr>
          <a:xfrm>
            <a:off x="2462964" y="3692503"/>
            <a:ext cx="3020935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Teriyaki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435 – 835 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00FFFF"/>
              </a:highlight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95EAA-D064-7F1D-3D63-E907B8C522F8}"/>
              </a:ext>
            </a:extLst>
          </p:cNvPr>
          <p:cNvSpPr txBox="1"/>
          <p:nvPr/>
        </p:nvSpPr>
        <p:spPr>
          <a:xfrm>
            <a:off x="68763" y="9478960"/>
            <a:ext cx="755513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80975" lvl="0" indent="0" defTabSz="91440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2000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calories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is</a:t>
            </a:r>
            <a:r>
              <a:rPr kumimoji="0" lang="en-US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used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as</a:t>
            </a:r>
            <a:r>
              <a:rPr kumimoji="0" lang="en-US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general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lang="en-US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advice,</a:t>
            </a:r>
            <a:r>
              <a:rPr kumimoji="0" lang="en-US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but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</a:t>
            </a:r>
            <a:r>
              <a:rPr kumimoji="0" lang="en-US" sz="9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needs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may</a:t>
            </a:r>
            <a:r>
              <a:rPr kumimoji="0" lang="en-US" sz="9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vary.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Additional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 </a:t>
            </a:r>
            <a:r>
              <a:rPr kumimoji="0" lang="en-US" sz="90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information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available</a:t>
            </a:r>
            <a:r>
              <a:rPr kumimoji="0" lang="en-US" sz="9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upon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request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ft Bold" panose="00000800000000000000"/>
                <a:cs typeface="Rockwell"/>
              </a:rPr>
              <a:t>.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*</a:t>
            </a: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Consuming raw or undercooked meats, poultry, seafood, shellfish or eggs may increase your risk of foodborne illness, especially if you have medical conditions.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7DB6805D-9FEC-6338-582D-B9927D5968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3107"/>
            <a:ext cx="5169890" cy="83229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4B6C80-C93B-CC89-B1AD-73639EBD7623}"/>
              </a:ext>
            </a:extLst>
          </p:cNvPr>
          <p:cNvSpPr txBox="1"/>
          <p:nvPr/>
        </p:nvSpPr>
        <p:spPr>
          <a:xfrm>
            <a:off x="649372" y="8417275"/>
            <a:ext cx="645721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  </a:t>
            </a: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A04ED-DECB-49BD-82A5-A7F32C966061}"/>
              </a:ext>
            </a:extLst>
          </p:cNvPr>
          <p:cNvSpPr txBox="1"/>
          <p:nvPr/>
        </p:nvSpPr>
        <p:spPr>
          <a:xfrm>
            <a:off x="5585069" y="9322896"/>
            <a:ext cx="10282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vegan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     vegetarian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E34D8-32C7-5AA4-367D-E48165E35F0D}"/>
              </a:ext>
            </a:extLst>
          </p:cNvPr>
          <p:cNvSpPr txBox="1"/>
          <p:nvPr/>
        </p:nvSpPr>
        <p:spPr>
          <a:xfrm>
            <a:off x="717421" y="7873425"/>
            <a:ext cx="645721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2BA67B-A29E-098F-C57A-7EF3988C2938}"/>
              </a:ext>
            </a:extLst>
          </p:cNvPr>
          <p:cNvSpPr txBox="1"/>
          <p:nvPr/>
        </p:nvSpPr>
        <p:spPr>
          <a:xfrm>
            <a:off x="717421" y="4522822"/>
            <a:ext cx="645721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grilled teriyaki protein with steamed rice, teriyaki salad, steamed broccoli, cucumber salad and teriyaki sauce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00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0103D-8380-C48B-3246-74AB6C9B19F3}"/>
              </a:ext>
            </a:extLst>
          </p:cNvPr>
          <p:cNvSpPr txBox="1"/>
          <p:nvPr/>
        </p:nvSpPr>
        <p:spPr>
          <a:xfrm>
            <a:off x="717421" y="5239106"/>
            <a:ext cx="645721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Grilled Tofu Portabella Teriyaki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11.75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medley of grilled portabella mushrooms and tofu with house made teriyaki sauce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Chicken Teriyaki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11.75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marinated and grille chicken in house made teriyaki sauce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Sides | 2.55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Steamed Rice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 240 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Cucumber Salad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110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Steamed Broccoli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50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Teriyaki Salad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15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77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94C0A-51A6-BD2C-4E53-424C09C1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2709DE-7093-EBC4-4839-94742458F506}"/>
              </a:ext>
            </a:extLst>
          </p:cNvPr>
          <p:cNvSpPr/>
          <p:nvPr/>
        </p:nvSpPr>
        <p:spPr>
          <a:xfrm>
            <a:off x="331202" y="262538"/>
            <a:ext cx="7017900" cy="1243139"/>
          </a:xfrm>
          <a:prstGeom prst="rect">
            <a:avLst/>
          </a:prstGeom>
          <a:noFill/>
          <a:ln w="57150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96AB56-0D20-ADF9-4D53-C4BEBBBBF458}"/>
              </a:ext>
            </a:extLst>
          </p:cNvPr>
          <p:cNvSpPr txBox="1"/>
          <p:nvPr/>
        </p:nvSpPr>
        <p:spPr>
          <a:xfrm>
            <a:off x="2368101" y="2015237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THIS WEEK’S MENU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3EB35-13B0-360D-3480-F267910FA0E7}"/>
              </a:ext>
            </a:extLst>
          </p:cNvPr>
          <p:cNvSpPr/>
          <p:nvPr/>
        </p:nvSpPr>
        <p:spPr>
          <a:xfrm>
            <a:off x="597762" y="3332740"/>
            <a:ext cx="6751340" cy="5735869"/>
          </a:xfrm>
          <a:prstGeom prst="rect">
            <a:avLst/>
          </a:prstGeom>
          <a:noFill/>
          <a:ln w="28575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C6B584-4E7D-F305-BF4A-C330C2BBD7FD}"/>
              </a:ext>
            </a:extLst>
          </p:cNvPr>
          <p:cNvSpPr/>
          <p:nvPr/>
        </p:nvSpPr>
        <p:spPr>
          <a:xfrm>
            <a:off x="2215939" y="2983717"/>
            <a:ext cx="3460180" cy="708786"/>
          </a:xfrm>
          <a:prstGeom prst="rect">
            <a:avLst/>
          </a:prstGeom>
          <a:solidFill>
            <a:schemeClr val="bg1"/>
          </a:solidFill>
          <a:ln w="28575">
            <a:solidFill>
              <a:srgbClr val="C69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Wednesday - Friday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BB7D3-C7C5-0161-6D54-AD83DC6681E1}"/>
              </a:ext>
            </a:extLst>
          </p:cNvPr>
          <p:cNvSpPr txBox="1"/>
          <p:nvPr/>
        </p:nvSpPr>
        <p:spPr>
          <a:xfrm>
            <a:off x="2462964" y="3692503"/>
            <a:ext cx="3020935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Teriyaki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435 – 835 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00FFFF"/>
              </a:highlight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E3517-5D09-7082-89C1-187906FC3368}"/>
              </a:ext>
            </a:extLst>
          </p:cNvPr>
          <p:cNvSpPr txBox="1"/>
          <p:nvPr/>
        </p:nvSpPr>
        <p:spPr>
          <a:xfrm>
            <a:off x="68763" y="9478960"/>
            <a:ext cx="755513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80975" lvl="0" indent="0" defTabSz="91440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2000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calories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is</a:t>
            </a:r>
            <a:r>
              <a:rPr kumimoji="0" lang="en-US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used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as</a:t>
            </a:r>
            <a:r>
              <a:rPr kumimoji="0" lang="en-US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general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lang="en-US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advice,</a:t>
            </a:r>
            <a:r>
              <a:rPr kumimoji="0" lang="en-US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but</a:t>
            </a:r>
            <a:r>
              <a:rPr kumimoji="0" lang="en-US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calorie</a:t>
            </a:r>
            <a:r>
              <a:rPr kumimoji="0" lang="en-US" sz="9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needs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may</a:t>
            </a:r>
            <a:r>
              <a:rPr kumimoji="0" lang="en-US" sz="9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vary.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Additional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nutrition </a:t>
            </a:r>
            <a:r>
              <a:rPr kumimoji="0" lang="en-US" sz="90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information</a:t>
            </a:r>
            <a:r>
              <a:rPr kumimoji="0" lang="en-US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available</a:t>
            </a:r>
            <a:r>
              <a:rPr kumimoji="0" lang="en-US" sz="9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upon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request</a:t>
            </a:r>
            <a:r>
              <a:rPr kumimoji="0" lang="en-US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ft Bold" panose="00000800000000000000"/>
                <a:cs typeface="Rockwell"/>
              </a:rPr>
              <a:t>.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*</a:t>
            </a: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Consuming raw or undercooked meats, poultry, seafood, shellfish or eggs may increase your risk of foodborne illness, especially if you have medical conditions.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8BE640-3568-666F-4F85-8C6AF5267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3107"/>
            <a:ext cx="5169890" cy="83229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05E0B16-FC03-184F-BF94-3EB778212B46}"/>
              </a:ext>
            </a:extLst>
          </p:cNvPr>
          <p:cNvSpPr txBox="1"/>
          <p:nvPr/>
        </p:nvSpPr>
        <p:spPr>
          <a:xfrm>
            <a:off x="649372" y="8417275"/>
            <a:ext cx="645721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  </a:t>
            </a: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3C336F-57B1-27C9-E09E-7923154DE711}"/>
              </a:ext>
            </a:extLst>
          </p:cNvPr>
          <p:cNvSpPr txBox="1"/>
          <p:nvPr/>
        </p:nvSpPr>
        <p:spPr>
          <a:xfrm>
            <a:off x="5585069" y="9322896"/>
            <a:ext cx="10282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vegan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     vegetarian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FB6EB-EDCC-FF31-7939-A3D852D492E3}"/>
              </a:ext>
            </a:extLst>
          </p:cNvPr>
          <p:cNvSpPr txBox="1"/>
          <p:nvPr/>
        </p:nvSpPr>
        <p:spPr>
          <a:xfrm>
            <a:off x="717421" y="7873425"/>
            <a:ext cx="6457217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17FB9B-5139-BA88-EC5E-DF8B95C6186D}"/>
              </a:ext>
            </a:extLst>
          </p:cNvPr>
          <p:cNvSpPr txBox="1"/>
          <p:nvPr/>
        </p:nvSpPr>
        <p:spPr>
          <a:xfrm>
            <a:off x="717421" y="4522822"/>
            <a:ext cx="645721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grilled teriyaki protein with steamed rice, teriyaki salad, steamed broccoli, cucumber salad and teriyaki sauce</a:t>
            </a:r>
            <a:endParaRPr kumimoji="0" lang="en-US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00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D2A91-659F-5CD0-5D94-FDED46284A32}"/>
              </a:ext>
            </a:extLst>
          </p:cNvPr>
          <p:cNvSpPr txBox="1"/>
          <p:nvPr/>
        </p:nvSpPr>
        <p:spPr>
          <a:xfrm>
            <a:off x="717421" y="5239106"/>
            <a:ext cx="645721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Grilled Tofu Portabella Teriyaki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VN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11.75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medley of grilled portabella mushrooms and tofu with house made teriyaki sauce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Chicken Teriyaki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11.75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marinated and grille chicken in house made teriyaki sauce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Sides | 2.55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Steamed Rice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 240 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Cucumber Salad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110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Steamed Broccoli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50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Teriyaki Salad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15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00FF"/>
                </a:highlight>
                <a:uLnTx/>
                <a:uFillTx/>
              </a:rPr>
              <a:t>cal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00FF"/>
              </a:highligh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9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A9CE6E-EADB-4477-8F41-24B0D39A43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120195"/>
            <a:ext cx="7753197" cy="10162769"/>
            <a:chOff x="9602" y="-104369"/>
            <a:chExt cx="7753197" cy="10162769"/>
          </a:xfrm>
        </p:grpSpPr>
        <p:pic>
          <p:nvPicPr>
            <p:cNvPr id="7" name="Picture 6" descr="A white and red pizza menu&#10;&#10;AI-generated content may be incorrect.">
              <a:extLst>
                <a:ext uri="{FF2B5EF4-FFF2-40B4-BE49-F238E27FC236}">
                  <a16:creationId xmlns:a16="http://schemas.microsoft.com/office/drawing/2014/main" id="{0B2DDF84-803E-5477-59B7-3D295434029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0" b="707"/>
            <a:stretch>
              <a:fillRect/>
            </a:stretch>
          </p:blipFill>
          <p:spPr>
            <a:xfrm>
              <a:off x="9602" y="-104369"/>
              <a:ext cx="7753197" cy="1016276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8A2300-E51E-D4A2-0836-A5A27CAB2F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8369" y="2402960"/>
              <a:ext cx="2842506" cy="436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24EE50-89CA-842F-7B3D-6A28B8CFEC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5504" y="4921718"/>
              <a:ext cx="2842506" cy="4369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57B724D-524C-B70B-6FF1-3C83E319FD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749" y="1085362"/>
              <a:ext cx="1367477" cy="3525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9CDFEB-C9B9-3E20-511D-7AC1A7E181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5461" y="1821579"/>
              <a:ext cx="1367477" cy="1950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034B63-E99E-2C16-357D-22FD7D1794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76717" y="4183028"/>
              <a:ext cx="2181748" cy="4468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7DD2F49-074E-27FF-07D1-EED89731B33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rcRect l="4408" t="10150" b="3445"/>
            <a:stretch>
              <a:fillRect/>
            </a:stretch>
          </p:blipFill>
          <p:spPr>
            <a:xfrm>
              <a:off x="5766406" y="5414863"/>
              <a:ext cx="1703465" cy="330653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4F7E253-6DEB-7A23-5223-CBD38B9F005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rcRect l="4408" t="10150" b="3445"/>
            <a:stretch>
              <a:fillRect/>
            </a:stretch>
          </p:blipFill>
          <p:spPr>
            <a:xfrm rot="10800000">
              <a:off x="330946" y="1671385"/>
              <a:ext cx="1493774" cy="289951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AA0B44-93B3-259B-0FCB-5C21290931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34586" y="1439724"/>
              <a:ext cx="1913861" cy="279006"/>
            </a:xfrm>
            <a:prstGeom prst="rect">
              <a:avLst/>
            </a:prstGeom>
            <a:solidFill>
              <a:srgbClr val="C4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61FA9535-C81A-AF8C-68AA-F503F832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00"/>
          <a:stretch>
            <a:fillRect/>
          </a:stretch>
        </p:blipFill>
        <p:spPr>
          <a:xfrm>
            <a:off x="2356108" y="4512995"/>
            <a:ext cx="3205317" cy="342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8A179C-EFE7-4D92-D6F0-716D40160E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349"/>
          <a:stretch>
            <a:fillRect/>
          </a:stretch>
        </p:blipFill>
        <p:spPr>
          <a:xfrm>
            <a:off x="330178" y="5324686"/>
            <a:ext cx="3230207" cy="342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92BBE-7730-5B03-4146-123F6FB0D9E4}"/>
              </a:ext>
            </a:extLst>
          </p:cNvPr>
          <p:cNvSpPr txBox="1"/>
          <p:nvPr/>
        </p:nvSpPr>
        <p:spPr>
          <a:xfrm>
            <a:off x="1847284" y="2419640"/>
            <a:ext cx="5086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300" dirty="0">
                <a:latin typeface="Amazon Ember Heavy" panose="020B0803020204020204" pitchFamily="34" charset="0"/>
                <a:ea typeface="Amazon Ember Heavy" panose="020B0803020204020204" pitchFamily="34" charset="0"/>
                <a:cs typeface="Amazon Ember Heavy" panose="020B0803020204020204" pitchFamily="34" charset="0"/>
              </a:rPr>
              <a:t>Daily Features</a:t>
            </a:r>
            <a:endParaRPr kumimoji="0" lang="en-US" sz="2000" b="0" i="0" u="none" strike="noStrike" kern="0" cap="none" spc="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 Heavy" panose="020B0803020204020204" pitchFamily="34" charset="0"/>
              <a:ea typeface="Amazon Ember Heavy" panose="020B0803020204020204" pitchFamily="34" charset="0"/>
              <a:cs typeface="Amazon Ember Heavy" panose="020B0803020204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08063C-FB77-F7A8-FAAE-7D160957D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399314"/>
              </p:ext>
            </p:extLst>
          </p:nvPr>
        </p:nvGraphicFramePr>
        <p:xfrm>
          <a:off x="2068583" y="2958987"/>
          <a:ext cx="4940408" cy="189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577">
                  <a:extLst>
                    <a:ext uri="{9D8B030D-6E8A-4147-A177-3AD203B41FA5}">
                      <a16:colId xmlns:a16="http://schemas.microsoft.com/office/drawing/2014/main" val="4257702114"/>
                    </a:ext>
                  </a:extLst>
                </a:gridCol>
                <a:gridCol w="860660">
                  <a:extLst>
                    <a:ext uri="{9D8B030D-6E8A-4147-A177-3AD203B41FA5}">
                      <a16:colId xmlns:a16="http://schemas.microsoft.com/office/drawing/2014/main" val="2360785262"/>
                    </a:ext>
                  </a:extLst>
                </a:gridCol>
                <a:gridCol w="699171">
                  <a:extLst>
                    <a:ext uri="{9D8B030D-6E8A-4147-A177-3AD203B41FA5}">
                      <a16:colId xmlns:a16="http://schemas.microsoft.com/office/drawing/2014/main" val="71338527"/>
                    </a:ext>
                  </a:extLst>
                </a:gridCol>
              </a:tblGrid>
              <a:tr h="29804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GARDEN PESTO FLATRBREAD </a:t>
                      </a:r>
                      <a:r>
                        <a:rPr lang="en-US" sz="1400" b="1" dirty="0">
                          <a:solidFill>
                            <a:srgbClr val="92D050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mushrooms, caramelized onions, asparagus, goat cheese, and pesto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530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5.00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0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CAPRESE FLATBREAD </a:t>
                      </a:r>
                      <a:r>
                        <a:rPr lang="en-US" sz="1400" b="1" dirty="0">
                          <a:solidFill>
                            <a:srgbClr val="92D050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toasted flatbread topped with slow roasted tomatoes, mozzarella, basil and balsamic glaze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610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5.00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0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22924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5D35FDA-B2DF-91EF-D9D8-D0E3AFDFC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8022"/>
              </p:ext>
            </p:extLst>
          </p:nvPr>
        </p:nvGraphicFramePr>
        <p:xfrm>
          <a:off x="319059" y="5567245"/>
          <a:ext cx="4940408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440">
                  <a:extLst>
                    <a:ext uri="{9D8B030D-6E8A-4147-A177-3AD203B41FA5}">
                      <a16:colId xmlns:a16="http://schemas.microsoft.com/office/drawing/2014/main" val="4257702114"/>
                    </a:ext>
                  </a:extLst>
                </a:gridCol>
                <a:gridCol w="804374">
                  <a:extLst>
                    <a:ext uri="{9D8B030D-6E8A-4147-A177-3AD203B41FA5}">
                      <a16:colId xmlns:a16="http://schemas.microsoft.com/office/drawing/2014/main" val="2360785262"/>
                    </a:ext>
                  </a:extLst>
                </a:gridCol>
                <a:gridCol w="654594">
                  <a:extLst>
                    <a:ext uri="{9D8B030D-6E8A-4147-A177-3AD203B41FA5}">
                      <a16:colId xmlns:a16="http://schemas.microsoft.com/office/drawing/2014/main" val="71338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QUATTRO FORMAGGI </a:t>
                      </a:r>
                      <a:r>
                        <a:rPr lang="en-US" sz="1400" b="1">
                          <a:solidFill>
                            <a:srgbClr val="92D050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house-made pizza sauce, fontina, parmesan, mozzarella + provolone cheeses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900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9.20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0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MARGHERITA </a:t>
                      </a:r>
                      <a:r>
                        <a:rPr lang="en-US" sz="1400" b="1" dirty="0">
                          <a:solidFill>
                            <a:srgbClr val="92D050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house-made pizza sauce, mozzarella cheese,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roma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tomatoes + basil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910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9.20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50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FORAGER’S PIE </a:t>
                      </a:r>
                      <a:r>
                        <a:rPr lang="en-US" sz="1400" b="1">
                          <a:solidFill>
                            <a:srgbClr val="92D050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house-made pizza sauce, seasonal mushrooms + vegetables, caramelized onions + arugula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740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11.55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PEPPERONI + SALAMI</a:t>
                      </a:r>
                      <a:endParaRPr lang="en-US" sz="1400" b="1">
                        <a:solidFill>
                          <a:srgbClr val="92D050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house-made pizza sauce, fontina, parmesan, mozzarella + provolone cheeses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920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11.55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5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SAUSAGE + SWEET PEPPER</a:t>
                      </a:r>
                      <a:endParaRPr lang="en-US" sz="1400" b="1" dirty="0">
                        <a:solidFill>
                          <a:srgbClr val="92D050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house-made pizza sauce, fontina, parmesan, mozzarella + provolone cheeses, 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fennel sausage + fried herbs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890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11.55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09754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B9B57D6-A1D9-65D3-B856-D526BA979D6E}"/>
              </a:ext>
            </a:extLst>
          </p:cNvPr>
          <p:cNvSpPr txBox="1"/>
          <p:nvPr/>
        </p:nvSpPr>
        <p:spPr>
          <a:xfrm>
            <a:off x="-6291752" y="8586595"/>
            <a:ext cx="3257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cast iron baked chocolate chip cookie topped with vanilla ice cream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740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51A5C-39C0-B842-230B-FF5E0D23F74E}"/>
              </a:ext>
            </a:extLst>
          </p:cNvPr>
          <p:cNvSpPr txBox="1"/>
          <p:nvPr/>
        </p:nvSpPr>
        <p:spPr>
          <a:xfrm>
            <a:off x="5283961" y="8823013"/>
            <a:ext cx="21499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vegetarian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VN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vegan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9CE36-47C4-5546-6D76-B63D8A8AD0BC}"/>
              </a:ext>
            </a:extLst>
          </p:cNvPr>
          <p:cNvSpPr txBox="1"/>
          <p:nvPr/>
        </p:nvSpPr>
        <p:spPr>
          <a:xfrm>
            <a:off x="351609" y="9221286"/>
            <a:ext cx="634948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2000 calories is used as general nutrition advice, but calorie needs may vary. Additional nutrition information available upon request. *Consuming raw or undercooked meats, poultry, seafood, shellfish or eggs may increase your risk of foodborne illness, especially if you have medical conditions.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03D255-9C3C-4A65-8EC5-D3E35B1CE879}"/>
              </a:ext>
            </a:extLst>
          </p:cNvPr>
          <p:cNvSpPr txBox="1"/>
          <p:nvPr/>
        </p:nvSpPr>
        <p:spPr>
          <a:xfrm>
            <a:off x="352696" y="5042264"/>
            <a:ext cx="5590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 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SIGNATURE PIZZAS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10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796EC8-3E3C-4196-AE57-862F0E1F29F9}"/>
              </a:ext>
            </a:extLst>
          </p:cNvPr>
          <p:cNvSpPr txBox="1"/>
          <p:nvPr/>
        </p:nvSpPr>
        <p:spPr>
          <a:xfrm>
            <a:off x="8636000" y="736600"/>
            <a:ext cx="309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3 offerings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CA34867-9870-4A1A-80F4-C82653D2F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46946"/>
              </p:ext>
            </p:extLst>
          </p:nvPr>
        </p:nvGraphicFramePr>
        <p:xfrm>
          <a:off x="1574202" y="2971800"/>
          <a:ext cx="4623993" cy="2883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3993">
                  <a:extLst>
                    <a:ext uri="{9D8B030D-6E8A-4147-A177-3AD203B41FA5}">
                      <a16:colId xmlns:a16="http://schemas.microsoft.com/office/drawing/2014/main" val="2775607949"/>
                    </a:ext>
                  </a:extLst>
                </a:gridCol>
              </a:tblGrid>
              <a:tr h="16451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 Medium" panose="020B0603020204020204" pitchFamily="34" charset="0"/>
                          <a:ea typeface="Amazon Ember Medium" panose="020B0603020204020204" pitchFamily="34" charset="0"/>
                          <a:cs typeface="Amazon Ember Medium" panose="020B0603020204020204" pitchFamily="34" charset="0"/>
                        </a:rPr>
                        <a:t>FRESH 5: NEW MEXICAN CHIPOTLE FLATBREAD </a:t>
                      </a:r>
                      <a:r>
                        <a:rPr lang="en-US" sz="2000" b="0" dirty="0">
                          <a:solidFill>
                            <a:srgbClr val="92D050"/>
                          </a:solidFill>
                          <a:highlight>
                            <a:srgbClr val="FFFF00"/>
                          </a:highlight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kumimoji="0" lang="en-US" sz="2000" b="0" i="0" u="none" strike="noStrike" kern="1200" cap="none" spc="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mazon Ember Medium" panose="020B0603020204020204" pitchFamily="34" charset="0"/>
                        <a:ea typeface="Amazon Ember Medium" panose="020B0603020204020204" pitchFamily="34" charset="0"/>
                        <a:cs typeface="Amazon Ember Medium" panose="020B0603020204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Chipotle sausage, caramelized onions, sweet peppers,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oaxaca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cheese, and cilantro pesto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595 CAL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5.00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508194"/>
                  </a:ext>
                </a:extLst>
              </a:tr>
              <a:tr h="9628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48783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E2B31A9-8D63-466D-9CB0-B1246D83A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07" y="1382931"/>
            <a:ext cx="4066384" cy="75597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368619-ED04-47D9-8EBE-2047EDB1A9E3}"/>
              </a:ext>
            </a:extLst>
          </p:cNvPr>
          <p:cNvGraphicFramePr>
            <a:graphicFrameLocks noGrp="1"/>
          </p:cNvGraphicFramePr>
          <p:nvPr/>
        </p:nvGraphicFramePr>
        <p:xfrm>
          <a:off x="-6096000" y="4953000"/>
          <a:ext cx="494040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577">
                  <a:extLst>
                    <a:ext uri="{9D8B030D-6E8A-4147-A177-3AD203B41FA5}">
                      <a16:colId xmlns:a16="http://schemas.microsoft.com/office/drawing/2014/main" val="1535469048"/>
                    </a:ext>
                  </a:extLst>
                </a:gridCol>
                <a:gridCol w="860660">
                  <a:extLst>
                    <a:ext uri="{9D8B030D-6E8A-4147-A177-3AD203B41FA5}">
                      <a16:colId xmlns:a16="http://schemas.microsoft.com/office/drawing/2014/main" val="683186512"/>
                    </a:ext>
                  </a:extLst>
                </a:gridCol>
                <a:gridCol w="699171">
                  <a:extLst>
                    <a:ext uri="{9D8B030D-6E8A-4147-A177-3AD203B41FA5}">
                      <a16:colId xmlns:a16="http://schemas.microsoft.com/office/drawing/2014/main" val="178209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GARDEN PESTO FLATRBREAD </a:t>
                      </a:r>
                      <a:r>
                        <a:rPr lang="en-US" sz="1400" b="1" dirty="0">
                          <a:solidFill>
                            <a:srgbClr val="92D050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mushrooms, caramelized onions, asparagus, goat cheese, and pesto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530 cal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5.00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79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CAPRESE FLATBREAD </a:t>
                      </a:r>
                      <a:r>
                        <a:rPr lang="en-US" sz="1400" b="1" dirty="0">
                          <a:solidFill>
                            <a:srgbClr val="92D050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toasted flatbread topped with slow roasted tomatoes, mozzarella, basil and balsamic glaze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610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5.00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26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19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BEA84-A379-6CF4-DAE9-D5341BA5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6">
            <a:extLst>
              <a:ext uri="{FF2B5EF4-FFF2-40B4-BE49-F238E27FC236}">
                <a16:creationId xmlns:a16="http://schemas.microsoft.com/office/drawing/2014/main" id="{8F018DDD-2D45-EC11-42A0-FD68219E0CB3}"/>
              </a:ext>
            </a:extLst>
          </p:cNvPr>
          <p:cNvSpPr txBox="1"/>
          <p:nvPr/>
        </p:nvSpPr>
        <p:spPr>
          <a:xfrm>
            <a:off x="446916" y="9427662"/>
            <a:ext cx="6906536" cy="5046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180975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VEGAN 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VN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   |  VEGETARIAN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 V </a:t>
            </a:r>
          </a:p>
          <a:p>
            <a:pPr marL="12700" marR="180975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</a:b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2000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calories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is</a:t>
            </a:r>
            <a:r>
              <a:rPr kumimoji="0" lang="en-US" sz="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used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as</a:t>
            </a:r>
            <a:r>
              <a:rPr kumimoji="0" lang="en-US" sz="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general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lang="en-US" sz="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advice,</a:t>
            </a:r>
            <a:r>
              <a:rPr kumimoji="0" lang="en-US" sz="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but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calorie</a:t>
            </a:r>
            <a:r>
              <a:rPr kumimoji="0" lang="en-US" sz="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needs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may</a:t>
            </a:r>
            <a:r>
              <a:rPr kumimoji="0" lang="en-US" sz="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vary.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Additional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nutrition </a:t>
            </a:r>
            <a:r>
              <a:rPr kumimoji="0" lang="en-US" sz="8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information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available</a:t>
            </a:r>
            <a:r>
              <a:rPr kumimoji="0" lang="en-US" sz="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upon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request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. *Consuming raw or undercooked meats, poultry, seafood, shellfish or eggs may increase your risk of foodborne illness, especially if you have medical conditions.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CFAF8C1-374A-6390-4692-EED1C5E468AF}"/>
              </a:ext>
            </a:extLst>
          </p:cNvPr>
          <p:cNvGraphicFramePr>
            <a:graphicFrameLocks noGrp="1"/>
          </p:cNvGraphicFramePr>
          <p:nvPr/>
        </p:nvGraphicFramePr>
        <p:xfrm>
          <a:off x="306321" y="2229562"/>
          <a:ext cx="34050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5067">
                  <a:extLst>
                    <a:ext uri="{9D8B030D-6E8A-4147-A177-3AD203B41FA5}">
                      <a16:colId xmlns:a16="http://schemas.microsoft.com/office/drawing/2014/main" val="2058838986"/>
                    </a:ext>
                  </a:extLst>
                </a:gridCol>
              </a:tblGrid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BUILD YOUR OWN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choose your salad greens, eight toppings, dressing and protein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50-750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 / 9.20 + 4.50 protein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76287"/>
                  </a:ext>
                </a:extLst>
              </a:tr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SMOKED ALMOND COBB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romaine, arugula, spinach, avocado, cucumber, pickled red onions, grape tomatoes, shredded carrots, blue cheese, egg, smoked almonds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200 cal / 9.20 + 4.50 protein</a:t>
                      </a: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399887"/>
                  </a:ext>
                </a:extLst>
              </a:tr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CAESAR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romaine, kale, parmesan cheese, xx, lemon,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caesar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 dressing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540 cal / 9.20 + 4.50 protein</a:t>
                      </a: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6025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31240C3-5B90-4FEB-7D5F-0D4F9093F73E}"/>
              </a:ext>
            </a:extLst>
          </p:cNvPr>
          <p:cNvGraphicFramePr>
            <a:graphicFrameLocks noGrp="1"/>
          </p:cNvGraphicFramePr>
          <p:nvPr/>
        </p:nvGraphicFramePr>
        <p:xfrm>
          <a:off x="4128247" y="2676367"/>
          <a:ext cx="3225205" cy="484632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259106">
                  <a:extLst>
                    <a:ext uri="{9D8B030D-6E8A-4147-A177-3AD203B41FA5}">
                      <a16:colId xmlns:a16="http://schemas.microsoft.com/office/drawing/2014/main" val="22302765"/>
                    </a:ext>
                  </a:extLst>
                </a:gridCol>
                <a:gridCol w="966099">
                  <a:extLst>
                    <a:ext uri="{9D8B030D-6E8A-4147-A177-3AD203B41FA5}">
                      <a16:colId xmlns:a16="http://schemas.microsoft.com/office/drawing/2014/main" val="379611022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MONDAY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19421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Garden Vegetable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225 / 320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3557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Loaded Baked Potato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420 / 560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24705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TUESDAY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1280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Italian Tomato Bisque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150 / 200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83537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Southwest Chicken Tortilla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335 / 450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4242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WEDNESDAY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24703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Baja Chicken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345 / 495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45342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Curried Lentil and Rice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235 / 315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52763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THURSDAY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9643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Vegetarian Minestrone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185 / 245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390089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Vegetable Beef Barley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135 / 180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987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FRIDAY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1788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Corn Chowder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315 / 415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588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Chicken Noodle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300 / 400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238282"/>
                  </a:ext>
                </a:extLst>
              </a:tr>
            </a:tbl>
          </a:graphicData>
        </a:graphic>
      </p:graphicFrame>
      <p:pic>
        <p:nvPicPr>
          <p:cNvPr id="51" name="Picture 50">
            <a:extLst>
              <a:ext uri="{FF2B5EF4-FFF2-40B4-BE49-F238E27FC236}">
                <a16:creationId xmlns:a16="http://schemas.microsoft.com/office/drawing/2014/main" id="{977D9E45-085F-7437-E744-33585A9AB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81" y="8416441"/>
            <a:ext cx="807439" cy="39651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A87B905-E101-155E-EA82-803CE8627488}"/>
              </a:ext>
            </a:extLst>
          </p:cNvPr>
          <p:cNvSpPr txBox="1"/>
          <p:nvPr/>
        </p:nvSpPr>
        <p:spPr>
          <a:xfrm>
            <a:off x="-6847295" y="8229266"/>
            <a:ext cx="507149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FRESH 5 : CHICKEN + BUTTERNUT SQUASH BULGUR  SALAD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grilled chicken, bulgur wheat,  sundried tomatoes, roasted butternut squash, green onions, feta cheese + spring mix with citrus vinaigrette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390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 / 5.00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426A8-B51F-07C9-133F-D3BDFE486B9B}"/>
              </a:ext>
            </a:extLst>
          </p:cNvPr>
          <p:cNvSpPr/>
          <p:nvPr/>
        </p:nvSpPr>
        <p:spPr>
          <a:xfrm>
            <a:off x="306321" y="8009496"/>
            <a:ext cx="7079936" cy="1418165"/>
          </a:xfrm>
          <a:prstGeom prst="rect">
            <a:avLst/>
          </a:prstGeom>
          <a:noFill/>
          <a:ln w="19050">
            <a:solidFill>
              <a:srgbClr val="6C9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D13252D-28D1-7A64-B1C8-D62A91E409E6}"/>
              </a:ext>
            </a:extLst>
          </p:cNvPr>
          <p:cNvCxnSpPr/>
          <p:nvPr/>
        </p:nvCxnSpPr>
        <p:spPr>
          <a:xfrm>
            <a:off x="1899576" y="8279383"/>
            <a:ext cx="0" cy="74615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27AC72A-6673-D439-4929-99E4BCCD6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1" y="1554557"/>
            <a:ext cx="3302000" cy="635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787D32A-5786-8817-230B-49F6548F3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257" y="1554557"/>
            <a:ext cx="3302000" cy="63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F22A7B-DA9D-6359-4E4E-463882CC7D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1" y="5504299"/>
            <a:ext cx="3131873" cy="60228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31D981-A2CF-2C0B-4817-42C1DAA5530A}"/>
              </a:ext>
            </a:extLst>
          </p:cNvPr>
          <p:cNvGraphicFramePr>
            <a:graphicFrameLocks noGrp="1"/>
          </p:cNvGraphicFramePr>
          <p:nvPr/>
        </p:nvGraphicFramePr>
        <p:xfrm>
          <a:off x="6186437" y="2161898"/>
          <a:ext cx="116701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015">
                  <a:extLst>
                    <a:ext uri="{9D8B030D-6E8A-4147-A177-3AD203B41FA5}">
                      <a16:colId xmlns:a16="http://schemas.microsoft.com/office/drawing/2014/main" val="3617499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12 OZ  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/ 5.15</a:t>
                      </a: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16 OZ  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/ 6.10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97362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DEE29B6-1C24-7D32-8635-DBDEB8A9F1E4}"/>
              </a:ext>
            </a:extLst>
          </p:cNvPr>
          <p:cNvSpPr txBox="1"/>
          <p:nvPr/>
        </p:nvSpPr>
        <p:spPr>
          <a:xfrm>
            <a:off x="4128247" y="2189557"/>
            <a:ext cx="1607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FRESH ROLL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/ 1.00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6FCD7127-D23C-301B-681D-3DB07F363637}"/>
              </a:ext>
            </a:extLst>
          </p:cNvPr>
          <p:cNvGraphicFramePr>
            <a:graphicFrameLocks noGrp="1"/>
          </p:cNvGraphicFramePr>
          <p:nvPr/>
        </p:nvGraphicFramePr>
        <p:xfrm>
          <a:off x="399007" y="6120939"/>
          <a:ext cx="3225205" cy="164592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259106">
                  <a:extLst>
                    <a:ext uri="{9D8B030D-6E8A-4147-A177-3AD203B41FA5}">
                      <a16:colId xmlns:a16="http://schemas.microsoft.com/office/drawing/2014/main" val="22302765"/>
                    </a:ext>
                  </a:extLst>
                </a:gridCol>
                <a:gridCol w="966099">
                  <a:extLst>
                    <a:ext uri="{9D8B030D-6E8A-4147-A177-3AD203B41FA5}">
                      <a16:colId xmlns:a16="http://schemas.microsoft.com/office/drawing/2014/main" val="3796110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115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247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180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73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Vinaigrette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32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Vinaigrette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110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968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Vinegar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4564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240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45601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B4C7C44-0F83-9784-E012-602C8F7CA899}"/>
              </a:ext>
            </a:extLst>
          </p:cNvPr>
          <p:cNvSpPr txBox="1"/>
          <p:nvPr/>
        </p:nvSpPr>
        <p:spPr>
          <a:xfrm>
            <a:off x="2115300" y="8297425"/>
            <a:ext cx="5055234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 Medium" panose="020B0603020204020204" pitchFamily="34" charset="0"/>
                <a:cs typeface="Amazon Ember Medium" panose="020B0603020204020204" pitchFamily="34" charset="0"/>
              </a:rPr>
              <a:t>FRESH 5: MAPLE TOFU BARLEY PECAN SALAD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yams, barley, pecans, celery, red onion, cranberry, tofu, broccoli, arugula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275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 / 5.00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mber Modern Display Standard" panose="020B0503020204020204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A3B94-A3BD-4E12-C58C-1E40B98E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6">
            <a:extLst>
              <a:ext uri="{FF2B5EF4-FFF2-40B4-BE49-F238E27FC236}">
                <a16:creationId xmlns:a16="http://schemas.microsoft.com/office/drawing/2014/main" id="{9628326E-D3D2-D860-8F17-C7882C704A6F}"/>
              </a:ext>
            </a:extLst>
          </p:cNvPr>
          <p:cNvSpPr txBox="1"/>
          <p:nvPr/>
        </p:nvSpPr>
        <p:spPr>
          <a:xfrm>
            <a:off x="446916" y="9427662"/>
            <a:ext cx="6906536" cy="5046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180975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VEGAN 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VN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   |  VEGETARIAN</a:t>
            </a:r>
            <a:r>
              <a:rPr kumimoji="0" lang="en-US" sz="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 V </a:t>
            </a:r>
          </a:p>
          <a:p>
            <a:pPr marL="12700" marR="180975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</a:b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2000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calories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is</a:t>
            </a:r>
            <a:r>
              <a:rPr kumimoji="0" lang="en-US" sz="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used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as</a:t>
            </a:r>
            <a:r>
              <a:rPr kumimoji="0" lang="en-US" sz="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general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nutrition</a:t>
            </a:r>
            <a:r>
              <a:rPr kumimoji="0" lang="en-US" sz="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advice,</a:t>
            </a:r>
            <a:r>
              <a:rPr kumimoji="0" lang="en-US" sz="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but</a:t>
            </a:r>
            <a:r>
              <a:rPr kumimoji="0" lang="en-US" sz="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calorie</a:t>
            </a:r>
            <a:r>
              <a:rPr kumimoji="0" lang="en-US" sz="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needs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may</a:t>
            </a:r>
            <a:r>
              <a:rPr kumimoji="0" lang="en-US" sz="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vary.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Additional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nutrition </a:t>
            </a:r>
            <a:r>
              <a:rPr kumimoji="0" lang="en-US" sz="800" b="0" i="0" u="none" strike="noStrike" kern="1200" cap="none" spc="-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information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available</a:t>
            </a:r>
            <a:r>
              <a:rPr kumimoji="0" lang="en-US" sz="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upon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kumimoji="0" lang="en-US" sz="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request</a:t>
            </a:r>
            <a:r>
              <a:rPr kumimoji="0" lang="en-US" sz="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+mn-ea"/>
                <a:cs typeface="+mn-cs"/>
              </a:rPr>
              <a:t>. *Consuming raw or undercooked meats, poultry, seafood, shellfish or eggs may increase your risk of foodborne illness, especially if you have medical conditions.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2F5E450-6965-142B-A0A1-200963094A48}"/>
              </a:ext>
            </a:extLst>
          </p:cNvPr>
          <p:cNvGraphicFramePr>
            <a:graphicFrameLocks noGrp="1"/>
          </p:cNvGraphicFramePr>
          <p:nvPr/>
        </p:nvGraphicFramePr>
        <p:xfrm>
          <a:off x="306321" y="2229562"/>
          <a:ext cx="34050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5067">
                  <a:extLst>
                    <a:ext uri="{9D8B030D-6E8A-4147-A177-3AD203B41FA5}">
                      <a16:colId xmlns:a16="http://schemas.microsoft.com/office/drawing/2014/main" val="2058838986"/>
                    </a:ext>
                  </a:extLst>
                </a:gridCol>
              </a:tblGrid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BUILD YOUR OWN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choose your salad greens, eight toppings, dressing and protein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50-750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 / 9.20 + 4.50 protein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76287"/>
                  </a:ext>
                </a:extLst>
              </a:tr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SMOKED ALMOND COBB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romaine, arugula, spinach, avocado, cucumber, pickled red onions, grape tomatoes, shredded carrots, blue cheese, egg, smoked almonds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200 cal / 9.20 + 4.50 protein</a:t>
                      </a: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399887"/>
                  </a:ext>
                </a:extLst>
              </a:tr>
              <a:tr h="46797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CAESAR SALAD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romaine, kale, parmesan cheese, xx, lemon,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caesar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 dressing</a:t>
                      </a:r>
                      <a:b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540 cal / 9.20 + 4.50 protein</a:t>
                      </a: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6025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746A64C-7449-5A4F-0518-CFF277FF6956}"/>
              </a:ext>
            </a:extLst>
          </p:cNvPr>
          <p:cNvGraphicFramePr>
            <a:graphicFrameLocks noGrp="1"/>
          </p:cNvGraphicFramePr>
          <p:nvPr/>
        </p:nvGraphicFramePr>
        <p:xfrm>
          <a:off x="4128247" y="2676367"/>
          <a:ext cx="3225205" cy="484632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259106">
                  <a:extLst>
                    <a:ext uri="{9D8B030D-6E8A-4147-A177-3AD203B41FA5}">
                      <a16:colId xmlns:a16="http://schemas.microsoft.com/office/drawing/2014/main" val="22302765"/>
                    </a:ext>
                  </a:extLst>
                </a:gridCol>
                <a:gridCol w="966099">
                  <a:extLst>
                    <a:ext uri="{9D8B030D-6E8A-4147-A177-3AD203B41FA5}">
                      <a16:colId xmlns:a16="http://schemas.microsoft.com/office/drawing/2014/main" val="379611022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MONDAY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19421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Garden Vegetable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225 / 320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3557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Loaded Baked Potato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420 / 560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24705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TUESDAY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1280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Italian Tomato Bisque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150 / 200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83537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Southwest Chicken Tortilla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335 / 450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4242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WEDNESDAY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24703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Curried Lentil + Rice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235 / 315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45342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Red Curry Chicken + Lentil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275 / 415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52763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THURSDAY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9643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Butternut Squash Bisque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280 / 320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390089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Vegetable Beef Barley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135 / 180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987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FRIDAY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1788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Corn Chowder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315 / 415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588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Chicken Noodle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300 / 400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238282"/>
                  </a:ext>
                </a:extLst>
              </a:tr>
            </a:tbl>
          </a:graphicData>
        </a:graphic>
      </p:graphicFrame>
      <p:pic>
        <p:nvPicPr>
          <p:cNvPr id="51" name="Picture 50">
            <a:extLst>
              <a:ext uri="{FF2B5EF4-FFF2-40B4-BE49-F238E27FC236}">
                <a16:creationId xmlns:a16="http://schemas.microsoft.com/office/drawing/2014/main" id="{0A2730C8-A3FF-A447-BED6-D794C8AEC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81" y="8416441"/>
            <a:ext cx="807439" cy="39651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70E8CA2-FADE-4E8D-193B-DE191512DE3B}"/>
              </a:ext>
            </a:extLst>
          </p:cNvPr>
          <p:cNvSpPr txBox="1"/>
          <p:nvPr/>
        </p:nvSpPr>
        <p:spPr>
          <a:xfrm>
            <a:off x="-6847295" y="8229266"/>
            <a:ext cx="507149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FRESH 5 : CHICKEN + BUTTERNUT SQUASH BULGUR  SALAD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grilled chicken, bulgur wheat,  sundried tomatoes, roasted butternut squash, green onions, feta cheese + spring mix with citrus vinaigrette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390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 / 5.00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0FA2146-9921-1724-39F4-1C9A4290C208}"/>
              </a:ext>
            </a:extLst>
          </p:cNvPr>
          <p:cNvSpPr/>
          <p:nvPr/>
        </p:nvSpPr>
        <p:spPr>
          <a:xfrm>
            <a:off x="306321" y="7753004"/>
            <a:ext cx="7079936" cy="1674658"/>
          </a:xfrm>
          <a:prstGeom prst="rect">
            <a:avLst/>
          </a:prstGeom>
          <a:noFill/>
          <a:ln w="19050">
            <a:solidFill>
              <a:srgbClr val="6C9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C7D018-12B1-47C1-8E85-A12B34BDB4BC}"/>
              </a:ext>
            </a:extLst>
          </p:cNvPr>
          <p:cNvCxnSpPr/>
          <p:nvPr/>
        </p:nvCxnSpPr>
        <p:spPr>
          <a:xfrm>
            <a:off x="1899576" y="8279383"/>
            <a:ext cx="0" cy="74615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8650675-D49B-08AA-7356-8F3D4C2C2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1" y="1554557"/>
            <a:ext cx="3302000" cy="635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920AD0F-186A-40A6-2045-4E9EBF69CB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257" y="1554557"/>
            <a:ext cx="3302000" cy="63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92E6EA-3CA2-9331-0926-EB9DDEF7E0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1" y="5504299"/>
            <a:ext cx="3131873" cy="60228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136CB2-394B-3410-E440-49E268FFB1BC}"/>
              </a:ext>
            </a:extLst>
          </p:cNvPr>
          <p:cNvGraphicFramePr>
            <a:graphicFrameLocks noGrp="1"/>
          </p:cNvGraphicFramePr>
          <p:nvPr/>
        </p:nvGraphicFramePr>
        <p:xfrm>
          <a:off x="6186437" y="2161898"/>
          <a:ext cx="116701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015">
                  <a:extLst>
                    <a:ext uri="{9D8B030D-6E8A-4147-A177-3AD203B41FA5}">
                      <a16:colId xmlns:a16="http://schemas.microsoft.com/office/drawing/2014/main" val="3617499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12 OZ  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/ 5.15</a:t>
                      </a: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16 OZ  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/ 6.10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97362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4E7BA1A-BD43-D154-56AB-A5E395DD06C4}"/>
              </a:ext>
            </a:extLst>
          </p:cNvPr>
          <p:cNvSpPr txBox="1"/>
          <p:nvPr/>
        </p:nvSpPr>
        <p:spPr>
          <a:xfrm>
            <a:off x="4128247" y="2189557"/>
            <a:ext cx="1607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FRESH ROLL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/ 1.00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276B9D63-9A3A-7D53-3878-6EBEE885002C}"/>
              </a:ext>
            </a:extLst>
          </p:cNvPr>
          <p:cNvGraphicFramePr>
            <a:graphicFrameLocks noGrp="1"/>
          </p:cNvGraphicFramePr>
          <p:nvPr/>
        </p:nvGraphicFramePr>
        <p:xfrm>
          <a:off x="399007" y="6120939"/>
          <a:ext cx="3225205" cy="164592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2259106">
                  <a:extLst>
                    <a:ext uri="{9D8B030D-6E8A-4147-A177-3AD203B41FA5}">
                      <a16:colId xmlns:a16="http://schemas.microsoft.com/office/drawing/2014/main" val="22302765"/>
                    </a:ext>
                  </a:extLst>
                </a:gridCol>
                <a:gridCol w="966099">
                  <a:extLst>
                    <a:ext uri="{9D8B030D-6E8A-4147-A177-3AD203B41FA5}">
                      <a16:colId xmlns:a16="http://schemas.microsoft.com/office/drawing/2014/main" val="3796110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115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247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180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73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Vinaigrette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32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Vinaigrette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110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968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Vinegar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5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4564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Dressing </a:t>
                      </a:r>
                      <a:r>
                        <a:rPr lang="en-US" sz="1200" b="1" i="0" u="none" strike="noStrike" kern="1200" noProof="0" dirty="0">
                          <a:solidFill>
                            <a:srgbClr val="92D050"/>
                          </a:solidFill>
                          <a:latin typeface="Amazon Ember"/>
                        </a:rPr>
                        <a:t>VN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240 </a:t>
                      </a:r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Amazon Ember Light" panose="020B0403020204020204" pitchFamily="34" charset="0"/>
                          <a:ea typeface="Amazon Ember Light" panose="020B0403020204020204" pitchFamily="34" charset="0"/>
                          <a:cs typeface="Amazon Ember Light" panose="020B0403020204020204" pitchFamily="34" charset="0"/>
                        </a:rPr>
                        <a:t>cal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mazon Ember Light" panose="020B0403020204020204" pitchFamily="34" charset="0"/>
                        <a:ea typeface="Amazon Ember Light" panose="020B0403020204020204" pitchFamily="34" charset="0"/>
                        <a:cs typeface="Amazon Ember Light" panose="020B04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45601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F63AA3-1C35-5206-969B-AB738B09F437}"/>
              </a:ext>
            </a:extLst>
          </p:cNvPr>
          <p:cNvSpPr txBox="1"/>
          <p:nvPr/>
        </p:nvSpPr>
        <p:spPr>
          <a:xfrm>
            <a:off x="2453148" y="7758238"/>
            <a:ext cx="388951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 Medium" panose="020B0603020204020204" pitchFamily="34" charset="0"/>
                <a:cs typeface="Amazon Ember Medium" panose="020B0603020204020204" pitchFamily="34" charset="0"/>
              </a:rPr>
              <a:t>FRESH 5: CURRY CHICKEN SALAD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chopped kale tossed with curried chicken, grapes, apples, celery, raisins, red onion, and cilantro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470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 / 5.00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mber Modern Display Standard" panose="020B0503020204020204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BF33B-F65F-888D-3366-6A37825E8D71}"/>
              </a:ext>
            </a:extLst>
          </p:cNvPr>
          <p:cNvSpPr txBox="1"/>
          <p:nvPr/>
        </p:nvSpPr>
        <p:spPr>
          <a:xfrm>
            <a:off x="1843534" y="8565991"/>
            <a:ext cx="5580975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 Medium" panose="020B0603020204020204" pitchFamily="34" charset="0"/>
                <a:cs typeface="Amazon Ember Medium" panose="020B0603020204020204" pitchFamily="34" charset="0"/>
              </a:rPr>
              <a:t>FRESH 5: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/>
                <a:ea typeface="Amazon Ember" panose="020B0603020204020204" pitchFamily="34" charset="0"/>
                <a:cs typeface="Amazon Ember" panose="020B0603020204020204" pitchFamily="34" charset="0"/>
              </a:rPr>
              <a:t>GRILLED CHICKEN + LENTIL SALAD 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highlight>
                <a:srgbClr val="FFFF00"/>
              </a:highlight>
              <a:uLnTx/>
              <a:uFillTx/>
              <a:latin typeface="Ember Modern Display Standard" panose="020B0503020204020204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0" marR="0" lvl="0" indent="0" algn="ctr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grilled chicken served with lentils and spring mix tossed in olive oil, red wine vinegar, mint, garlic, and topped with tomatoes, scallion, and bell peppers</a:t>
            </a:r>
          </a:p>
          <a:p>
            <a:pPr marL="0" marR="0" lvl="0" indent="0" algn="ctr" defTabSz="777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730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/ 5.00</a:t>
            </a:r>
          </a:p>
        </p:txBody>
      </p:sp>
    </p:spTree>
    <p:extLst>
      <p:ext uri="{BB962C8B-B14F-4D97-AF65-F5344CB8AC3E}">
        <p14:creationId xmlns:p14="http://schemas.microsoft.com/office/powerpoint/2010/main" val="279957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DFF7944-6503-5A44-8EDA-41CC48E62CF1}"/>
              </a:ext>
            </a:extLst>
          </p:cNvPr>
          <p:cNvSpPr/>
          <p:nvPr/>
        </p:nvSpPr>
        <p:spPr>
          <a:xfrm>
            <a:off x="350378" y="1007735"/>
            <a:ext cx="7143518" cy="483980"/>
          </a:xfrm>
          <a:prstGeom prst="rect">
            <a:avLst/>
          </a:prstGeom>
          <a:solidFill>
            <a:srgbClr val="6C9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D9341E-CA7D-4BEF-A202-7737B41A8871}"/>
              </a:ext>
            </a:extLst>
          </p:cNvPr>
          <p:cNvSpPr txBox="1"/>
          <p:nvPr/>
        </p:nvSpPr>
        <p:spPr>
          <a:xfrm>
            <a:off x="5685674" y="9570106"/>
            <a:ext cx="17860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76980E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VN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 vegan   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76980E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V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76980E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Amazon Ember" panose="020B0603020204020204" pitchFamily="34" charset="0"/>
                <a:cs typeface="Arial" panose="020B0604020202020204" pitchFamily="34" charset="0"/>
              </a:rPr>
              <a:t>vegetarian</a:t>
            </a:r>
          </a:p>
        </p:txBody>
      </p:sp>
      <p:sp>
        <p:nvSpPr>
          <p:cNvPr id="59" name="object 24">
            <a:extLst>
              <a:ext uri="{FF2B5EF4-FFF2-40B4-BE49-F238E27FC236}">
                <a16:creationId xmlns:a16="http://schemas.microsoft.com/office/drawing/2014/main" id="{AE6DF0F8-04D6-4FDE-A33F-13A34326DDEF}"/>
              </a:ext>
            </a:extLst>
          </p:cNvPr>
          <p:cNvSpPr txBox="1"/>
          <p:nvPr/>
        </p:nvSpPr>
        <p:spPr>
          <a:xfrm>
            <a:off x="455295" y="9570106"/>
            <a:ext cx="6861809" cy="2988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2000</a:t>
            </a:r>
            <a:r>
              <a:rPr kumimoji="0" sz="9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calories</a:t>
            </a:r>
            <a:r>
              <a:rPr kumimoji="0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a</a:t>
            </a:r>
            <a:r>
              <a:rPr kumimoji="0" sz="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day</a:t>
            </a:r>
            <a:r>
              <a:rPr kumimoji="0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is</a:t>
            </a:r>
            <a:r>
              <a:rPr kumimoji="0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used</a:t>
            </a:r>
            <a:r>
              <a:rPr kumimoji="0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for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general</a:t>
            </a:r>
            <a:r>
              <a:rPr kumimoji="0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nutrition</a:t>
            </a:r>
            <a:r>
              <a:rPr kumimoji="0" sz="9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advice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,</a:t>
            </a:r>
            <a:r>
              <a:rPr kumimoji="0" sz="9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but</a:t>
            </a:r>
            <a:r>
              <a:rPr kumimoji="0" sz="9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calorie</a:t>
            </a:r>
            <a:r>
              <a:rPr kumimoji="0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needs</a:t>
            </a:r>
            <a:r>
              <a:rPr kumimoji="0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vary.</a:t>
            </a:r>
            <a:r>
              <a:rPr kumimoji="0" sz="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endParaRPr kumimoji="0" lang="en-US" sz="9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itchFamily="2" charset="77"/>
              <a:ea typeface="+mn-ea"/>
              <a:cs typeface="Arial" panose="020B0604020202020204" pitchFamily="34" charset="0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Additional</a:t>
            </a:r>
            <a:r>
              <a:rPr kumimoji="0" sz="9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nutrition</a:t>
            </a:r>
            <a:r>
              <a:rPr kumimoji="0" sz="9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information</a:t>
            </a:r>
            <a:r>
              <a:rPr kumimoji="0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available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upon</a:t>
            </a:r>
            <a:r>
              <a:rPr kumimoji="0" sz="9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request.</a:t>
            </a:r>
            <a:r>
              <a:rPr kumimoji="0" lang="en-US" sz="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 panose="020B0604020202020204" pitchFamily="34" charset="0"/>
              </a:rPr>
              <a:t> </a:t>
            </a:r>
            <a:endParaRPr kumimoji="0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itchFamily="2" charset="77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C6106B0-5434-40E0-8CBA-AEFDE17623AD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1631240"/>
          <a:ext cx="324765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1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kern="0" spc="100" baseline="0" dirty="0">
                          <a:solidFill>
                            <a:srgbClr val="C01E2E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BREADS</a:t>
                      </a:r>
                      <a:r>
                        <a:rPr lang="en-US" sz="1800" b="1" i="0" kern="0" spc="100" baseline="0" dirty="0">
                          <a:solidFill>
                            <a:srgbClr val="F89F3C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r>
                        <a:rPr lang="en-US" sz="900" b="0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CHOOSE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8C24FF-4DA6-074F-B5A4-1EFA184E36D7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1996130"/>
          <a:ext cx="3018591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071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RUSTIC POTATO ROLL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315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33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SOURDOUGH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150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24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WHOLE WHEAT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15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SPINACH HERB WRAP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180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93272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0B0D49D9-6813-5544-A992-FAE6D7B7A49B}"/>
              </a:ext>
            </a:extLst>
          </p:cNvPr>
          <p:cNvGraphicFramePr>
            <a:graphicFrameLocks noGrp="1"/>
          </p:cNvGraphicFramePr>
          <p:nvPr/>
        </p:nvGraphicFramePr>
        <p:xfrm>
          <a:off x="4246245" y="1638307"/>
          <a:ext cx="324765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1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kern="0" spc="100" baseline="0" dirty="0">
                          <a:solidFill>
                            <a:srgbClr val="C01E2E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PROTEINS</a:t>
                      </a:r>
                      <a:r>
                        <a:rPr lang="en-US" sz="1800" b="1" i="0" kern="0" spc="100" baseline="0" dirty="0">
                          <a:solidFill>
                            <a:srgbClr val="F89F3C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r>
                        <a:rPr lang="en-US" sz="900" b="0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CHOOSE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2A76F0D-29FF-B042-AF7E-AFCB10F5F1D4}"/>
              </a:ext>
            </a:extLst>
          </p:cNvPr>
          <p:cNvGraphicFramePr>
            <a:graphicFrameLocks noGrp="1"/>
          </p:cNvGraphicFramePr>
          <p:nvPr/>
        </p:nvGraphicFramePr>
        <p:xfrm>
          <a:off x="4246245" y="1989830"/>
          <a:ext cx="301752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EGGLESS EGG SALAD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210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35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SALAMI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130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3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HONEY HAM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225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24496"/>
                  </a:ext>
                </a:extLst>
              </a:tr>
              <a:tr h="172732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ROAST BEEF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160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93272"/>
                  </a:ext>
                </a:extLst>
              </a:tr>
              <a:tr h="172732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TURKEY BREAST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120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363917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7627A53E-C62D-7D45-9919-D723E1DA37F5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3517090"/>
          <a:ext cx="324765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1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kern="0" spc="100" baseline="0" dirty="0">
                          <a:solidFill>
                            <a:srgbClr val="C01E2E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SPREADS</a:t>
                      </a:r>
                      <a:r>
                        <a:rPr lang="en-US" sz="1800" b="1" i="0" kern="0" spc="100" baseline="0" dirty="0">
                          <a:solidFill>
                            <a:srgbClr val="F89F3C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r>
                        <a:rPr lang="en-US" sz="900" b="0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CHOOSE UP TO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0C5E539A-6615-6A4A-B097-1B2086D2D5E7}"/>
              </a:ext>
            </a:extLst>
          </p:cNvPr>
          <p:cNvGraphicFramePr>
            <a:graphicFrameLocks noGrp="1"/>
          </p:cNvGraphicFramePr>
          <p:nvPr/>
        </p:nvGraphicFramePr>
        <p:xfrm>
          <a:off x="4256788" y="3517090"/>
          <a:ext cx="324765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1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kern="0" spc="100" baseline="0" dirty="0">
                          <a:solidFill>
                            <a:srgbClr val="C01E2E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CHEESES</a:t>
                      </a:r>
                      <a:r>
                        <a:rPr lang="en-US" sz="1800" b="1" i="0" kern="0" spc="100" baseline="0" dirty="0">
                          <a:solidFill>
                            <a:srgbClr val="F89F3C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r>
                        <a:rPr lang="en-US" sz="900" b="0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CHOOSE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1E214028-F719-9F40-AD7F-2FFFFA5C3FD7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5757315"/>
          <a:ext cx="324765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651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0" spc="100" baseline="0" dirty="0">
                          <a:solidFill>
                            <a:srgbClr val="C01E2E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TOPPINGS</a:t>
                      </a:r>
                      <a:r>
                        <a:rPr lang="en-US" sz="1800" b="1" i="0" kern="0" spc="100" baseline="0" dirty="0">
                          <a:solidFill>
                            <a:srgbClr val="F89F3C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</a:t>
                      </a:r>
                      <a:r>
                        <a:rPr lang="en-US" sz="900" b="0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CHOOSE UP TO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50BCD1A-4A3C-9940-83EB-8AD1F3889E9B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3904790"/>
          <a:ext cx="301859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071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CHIPOTLE AIOLI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175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029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DIJON MUSTARD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30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94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HORSERADISH AIOLI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145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15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VEGAN MAYO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180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3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PESTO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45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47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ROASTED GARLIC AIOLI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140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9327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FB42525-B8BF-0849-A22D-DC5B33F9AF86}"/>
              </a:ext>
            </a:extLst>
          </p:cNvPr>
          <p:cNvGraphicFramePr>
            <a:graphicFrameLocks noGrp="1"/>
          </p:cNvGraphicFramePr>
          <p:nvPr/>
        </p:nvGraphicFramePr>
        <p:xfrm>
          <a:off x="4246245" y="3874306"/>
          <a:ext cx="3017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123191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CHEDDAR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115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24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PEPPER JACK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105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151769"/>
                  </a:ext>
                </a:extLst>
              </a:tr>
              <a:tr h="12749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BLUE CHEESE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110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826170"/>
                  </a:ext>
                </a:extLst>
              </a:tr>
              <a:tr h="12749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PROVOLONE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105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574714"/>
                  </a:ext>
                </a:extLst>
              </a:tr>
              <a:tr h="12749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SWISS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  <a:endParaRPr lang="en-US" sz="110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100 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470289"/>
                  </a:ext>
                </a:extLst>
              </a:tr>
              <a:tr h="133949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9327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7669B88-48DD-044D-B827-A83C9D06CB42}"/>
              </a:ext>
            </a:extLst>
          </p:cNvPr>
          <p:cNvGraphicFramePr>
            <a:graphicFrameLocks noGrp="1"/>
          </p:cNvGraphicFramePr>
          <p:nvPr/>
        </p:nvGraphicFramePr>
        <p:xfrm>
          <a:off x="4246245" y="6146650"/>
          <a:ext cx="301752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PICKLED JALAPENO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 </a:t>
                      </a:r>
                      <a:r>
                        <a:rPr kumimoji="0" lang="en-US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243432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SLICED CUCUMBERS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27289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SLICED TOMATOES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13322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SLICED RED ONIONS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95086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F6B0518-85A1-D14F-B8E8-3A60FAED2265}"/>
              </a:ext>
            </a:extLst>
          </p:cNvPr>
          <p:cNvGraphicFramePr>
            <a:graphicFrameLocks noGrp="1"/>
          </p:cNvGraphicFramePr>
          <p:nvPr/>
        </p:nvGraphicFramePr>
        <p:xfrm>
          <a:off x="455295" y="6146650"/>
          <a:ext cx="3059403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883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05501763"/>
                    </a:ext>
                  </a:extLst>
                </a:gridCol>
              </a:tblGrid>
              <a:tr h="123191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BELL PEPPERS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35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678429"/>
                  </a:ext>
                </a:extLst>
              </a:tr>
              <a:tr h="123191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BANANA PEPPERS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24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CARAMELIZED ONIONS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60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80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LEAF LETTUCE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96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OLIVES </a:t>
                      </a: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  <a:endParaRPr lang="en-US" sz="1100" dirty="0"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15 </a:t>
                      </a:r>
                      <a:r>
                        <a:rPr kumimoji="0" 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531138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90E6B3-FBBF-A04B-BE84-E6DE073F08A9}"/>
              </a:ext>
            </a:extLst>
          </p:cNvPr>
          <p:cNvCxnSpPr>
            <a:cxnSpLocks/>
          </p:cNvCxnSpPr>
          <p:nvPr/>
        </p:nvCxnSpPr>
        <p:spPr>
          <a:xfrm>
            <a:off x="350378" y="3383013"/>
            <a:ext cx="297702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17B25D-F894-CF4A-A5BF-18086F3AFE98}"/>
              </a:ext>
            </a:extLst>
          </p:cNvPr>
          <p:cNvCxnSpPr>
            <a:cxnSpLocks/>
          </p:cNvCxnSpPr>
          <p:nvPr/>
        </p:nvCxnSpPr>
        <p:spPr>
          <a:xfrm>
            <a:off x="4256788" y="3383013"/>
            <a:ext cx="319025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B9ABC8D-7438-0B46-A2B6-07163969E9AC}"/>
              </a:ext>
            </a:extLst>
          </p:cNvPr>
          <p:cNvCxnSpPr>
            <a:cxnSpLocks/>
          </p:cNvCxnSpPr>
          <p:nvPr/>
        </p:nvCxnSpPr>
        <p:spPr>
          <a:xfrm>
            <a:off x="350378" y="5632048"/>
            <a:ext cx="709666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B4B5DFF-D0EF-BA4B-B900-05237927F5E9}"/>
              </a:ext>
            </a:extLst>
          </p:cNvPr>
          <p:cNvSpPr/>
          <p:nvPr/>
        </p:nvSpPr>
        <p:spPr>
          <a:xfrm>
            <a:off x="455295" y="1040731"/>
            <a:ext cx="6991750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8.90 - 9.90 BUILD YOUR OWN SANDWICH</a:t>
            </a:r>
            <a:br>
              <a:rPr kumimoji="0" lang="en-US" sz="1100" b="0" i="0" u="none" strike="noStrike" kern="120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2000505000000020004" pitchFamily="2" charset="77"/>
                <a:ea typeface="+mn-ea"/>
                <a:cs typeface="+mn-cs"/>
              </a:rPr>
            </a:br>
            <a:r>
              <a:rPr kumimoji="0" lang="en-US" sz="1100" b="0" i="0" u="none" strike="noStrike" kern="120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INCLUDES KETTLE CHIPS OR WHOLE FRUIT</a:t>
            </a:r>
            <a:endParaRPr kumimoji="0" lang="en-US" sz="1100" b="0" i="0" u="none" strike="noStrike" kern="1200" cap="none" spc="7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2000505000000020004" pitchFamily="2" charset="77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7755DE-C665-1042-973F-7671E4306C60}"/>
              </a:ext>
            </a:extLst>
          </p:cNvPr>
          <p:cNvSpPr txBox="1"/>
          <p:nvPr/>
        </p:nvSpPr>
        <p:spPr>
          <a:xfrm>
            <a:off x="5685674" y="462695"/>
            <a:ext cx="1854995" cy="3231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11:00AM – 2:00PM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F8CEFB5B-3157-DD41-8DC7-912F62A24B68}"/>
              </a:ext>
            </a:extLst>
          </p:cNvPr>
          <p:cNvGraphicFramePr>
            <a:graphicFrameLocks noGrp="1"/>
          </p:cNvGraphicFramePr>
          <p:nvPr/>
        </p:nvGraphicFramePr>
        <p:xfrm>
          <a:off x="455296" y="7744133"/>
          <a:ext cx="1407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688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kern="0" spc="100" baseline="0" dirty="0">
                          <a:solidFill>
                            <a:srgbClr val="C00000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EXTRAS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A0BE97-3912-BD9F-CA74-4CB8728357BA}"/>
              </a:ext>
            </a:extLst>
          </p:cNvPr>
          <p:cNvCxnSpPr>
            <a:cxnSpLocks/>
          </p:cNvCxnSpPr>
          <p:nvPr/>
        </p:nvCxnSpPr>
        <p:spPr>
          <a:xfrm>
            <a:off x="350378" y="7594497"/>
            <a:ext cx="709666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2AD42B-8F68-A7DB-7935-117CA27C1773}"/>
              </a:ext>
            </a:extLst>
          </p:cNvPr>
          <p:cNvGraphicFramePr>
            <a:graphicFrameLocks noGrp="1"/>
          </p:cNvGraphicFramePr>
          <p:nvPr/>
        </p:nvGraphicFramePr>
        <p:xfrm>
          <a:off x="1589517" y="7771666"/>
          <a:ext cx="585752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584">
                  <a:extLst>
                    <a:ext uri="{9D8B030D-6E8A-4147-A177-3AD203B41FA5}">
                      <a16:colId xmlns:a16="http://schemas.microsoft.com/office/drawing/2014/main" val="1253649866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25319018"/>
                    </a:ext>
                  </a:extLst>
                </a:gridCol>
                <a:gridCol w="1185706">
                  <a:extLst>
                    <a:ext uri="{9D8B030D-6E8A-4147-A177-3AD203B41FA5}">
                      <a16:colId xmlns:a16="http://schemas.microsoft.com/office/drawing/2014/main" val="606995220"/>
                    </a:ext>
                  </a:extLst>
                </a:gridCol>
                <a:gridCol w="1478324">
                  <a:extLst>
                    <a:ext uri="{9D8B030D-6E8A-4147-A177-3AD203B41FA5}">
                      <a16:colId xmlns:a16="http://schemas.microsoft.com/office/drawing/2014/main" val="60849686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AVOCADO SPREAD </a:t>
                      </a: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VN</a:t>
                      </a: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130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/ </a:t>
                      </a:r>
                      <a:r>
                        <a:rPr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2.05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CHEESE </a:t>
                      </a: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V</a:t>
                      </a: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85 – 115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/ 0.75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BACON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160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/ </a:t>
                      </a:r>
                      <a:r>
                        <a:rPr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2.05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PROTEIN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 panose="020B0603020204020204" pitchFamily="34" charset="0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  <a:p>
                      <a:pPr marL="0" marR="0" lvl="0" indent="0" algn="ctr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120 – 225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cal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 / </a:t>
                      </a:r>
                      <a:r>
                        <a:rPr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mazon Ember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4.55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Amazon Ember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966743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6C68A11-8D63-0B48-BC19-16C7B76A64DE}"/>
              </a:ext>
            </a:extLst>
          </p:cNvPr>
          <p:cNvSpPr/>
          <p:nvPr/>
        </p:nvSpPr>
        <p:spPr>
          <a:xfrm>
            <a:off x="322297" y="209825"/>
            <a:ext cx="1333674" cy="700909"/>
          </a:xfrm>
          <a:prstGeom prst="rect">
            <a:avLst/>
          </a:prstGeom>
          <a:solidFill>
            <a:srgbClr val="6C93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2A095F-74DC-EA4A-B4B0-B42CFDA00A31}"/>
              </a:ext>
            </a:extLst>
          </p:cNvPr>
          <p:cNvSpPr/>
          <p:nvPr/>
        </p:nvSpPr>
        <p:spPr>
          <a:xfrm>
            <a:off x="3028752" y="181930"/>
            <a:ext cx="1217493" cy="713972"/>
          </a:xfrm>
          <a:prstGeom prst="rect">
            <a:avLst/>
          </a:prstGeom>
          <a:solidFill>
            <a:srgbClr val="C01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B107AA-5C2E-6442-9CDF-53D9EFA650EE}"/>
              </a:ext>
            </a:extLst>
          </p:cNvPr>
          <p:cNvSpPr/>
          <p:nvPr/>
        </p:nvSpPr>
        <p:spPr>
          <a:xfrm>
            <a:off x="322297" y="194984"/>
            <a:ext cx="3934491" cy="707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 descr="Shape&#10;&#10;Description automatically generated with medium confidence">
            <a:extLst>
              <a:ext uri="{FF2B5EF4-FFF2-40B4-BE49-F238E27FC236}">
                <a16:creationId xmlns:a16="http://schemas.microsoft.com/office/drawing/2014/main" id="{882929E6-11D6-BB45-93EF-9030EBA00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72" y="393811"/>
            <a:ext cx="3581939" cy="451635"/>
          </a:xfrm>
          <a:prstGeom prst="rect">
            <a:avLst/>
          </a:prstGeom>
        </p:spPr>
      </p:pic>
      <p:graphicFrame>
        <p:nvGraphicFramePr>
          <p:cNvPr id="45" name="Table 4">
            <a:extLst>
              <a:ext uri="{FF2B5EF4-FFF2-40B4-BE49-F238E27FC236}">
                <a16:creationId xmlns:a16="http://schemas.microsoft.com/office/drawing/2014/main" id="{621FDB23-4B9B-6B4D-857F-43F656A81EB8}"/>
              </a:ext>
            </a:extLst>
          </p:cNvPr>
          <p:cNvGraphicFramePr>
            <a:graphicFrameLocks noGrp="1"/>
          </p:cNvGraphicFramePr>
          <p:nvPr/>
        </p:nvGraphicFramePr>
        <p:xfrm>
          <a:off x="4332514" y="289505"/>
          <a:ext cx="176896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966">
                  <a:extLst>
                    <a:ext uri="{9D8B030D-6E8A-4147-A177-3AD203B41FA5}">
                      <a16:colId xmlns:a16="http://schemas.microsoft.com/office/drawing/2014/main" val="3687197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600" b="1" i="0" kern="0" spc="100" baseline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DELI</a:t>
                      </a:r>
                      <a:endParaRPr lang="en-US" sz="3600" b="0" i="0" kern="0" spc="100" baseline="0" dirty="0">
                        <a:solidFill>
                          <a:schemeClr val="tx1"/>
                        </a:solidFill>
                        <a:latin typeface="Montserrat" pitchFamily="2" charset="77"/>
                        <a:ea typeface="Amazon Ember" panose="020B0603020204020204" pitchFamily="34" charset="0"/>
                        <a:cs typeface="Amazon Ember" panose="020B06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0398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5E06F40-235A-C446-BEFF-3449EA3152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48" y="8679952"/>
            <a:ext cx="807439" cy="396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648C44-61AC-A64F-BA0D-14D7B31ABE91}"/>
              </a:ext>
            </a:extLst>
          </p:cNvPr>
          <p:cNvSpPr txBox="1"/>
          <p:nvPr/>
        </p:nvSpPr>
        <p:spPr>
          <a:xfrm>
            <a:off x="2591357" y="8401337"/>
            <a:ext cx="44324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FRESH 5 GREEK SALAD FLATBREAD SANDWICH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epperoncini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, romaine, feta, thyme vinaigrette, olives, cucumbers, tomato, flatbread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175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cal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Ember Modern Display Standard" panose="020B0503020204020204" pitchFamily="34" charset="0"/>
                <a:ea typeface="+mn-ea"/>
                <a:cs typeface="+mn-cs"/>
              </a:rPr>
              <a:t> / 5.00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ECF7C7-22E0-9544-8550-066E7032C25D}"/>
              </a:ext>
            </a:extLst>
          </p:cNvPr>
          <p:cNvSpPr/>
          <p:nvPr/>
        </p:nvSpPr>
        <p:spPr>
          <a:xfrm>
            <a:off x="350378" y="8357397"/>
            <a:ext cx="7143518" cy="1060261"/>
          </a:xfrm>
          <a:prstGeom prst="rect">
            <a:avLst/>
          </a:prstGeom>
          <a:noFill/>
          <a:ln w="19050">
            <a:solidFill>
              <a:srgbClr val="6C9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331037-45BB-AB4E-972A-A3D7604310A2}"/>
              </a:ext>
            </a:extLst>
          </p:cNvPr>
          <p:cNvCxnSpPr/>
          <p:nvPr/>
        </p:nvCxnSpPr>
        <p:spPr>
          <a:xfrm>
            <a:off x="2289541" y="8542894"/>
            <a:ext cx="0" cy="746153"/>
          </a:xfrm>
          <a:prstGeom prst="line">
            <a:avLst/>
          </a:prstGeom>
          <a:ln>
            <a:solidFill>
              <a:srgbClr val="6C9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CA36F18-BDCD-4A22-8982-EF5C790F5F58}"/>
              </a:ext>
            </a:extLst>
          </p:cNvPr>
          <p:cNvSpPr txBox="1"/>
          <p:nvPr/>
        </p:nvSpPr>
        <p:spPr>
          <a:xfrm>
            <a:off x="8620714" y="4152037"/>
            <a:ext cx="388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mber Modern Display Standard" panose="020B05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white bean hummus with fresh arugula, tomato, cucumber, spinach, artichoke, and roasted red peppers on multigrain bread served with roasted vegetable chopped salad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D4CFA8-20A7-41C3-A448-C0BF6777877F}"/>
              </a:ext>
            </a:extLst>
          </p:cNvPr>
          <p:cNvSpPr txBox="1"/>
          <p:nvPr/>
        </p:nvSpPr>
        <p:spPr>
          <a:xfrm>
            <a:off x="-6555056" y="4844534"/>
            <a:ext cx="6307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Medium" panose="020B0603020204020204" pitchFamily="34" charset="0"/>
                <a:ea typeface="Amazon Ember Medium" panose="020B0603020204020204" pitchFamily="34" charset="0"/>
                <a:cs typeface="Amazon Ember Medium" panose="020B0603020204020204" pitchFamily="34" charset="0"/>
              </a:rPr>
              <a:t>FRESH 5: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"/>
                <a:ea typeface="Amazon Ember" panose="020B0603020204020204" pitchFamily="34" charset="0"/>
                <a:cs typeface="Amazon Ember" panose="020B0603020204020204" pitchFamily="34" charset="0"/>
              </a:rPr>
              <a:t>TUSCAN VEGETABLE SANDWICH (half) </a:t>
            </a:r>
            <a:endParaRPr kumimoji="0" lang="en-US" sz="1800" b="0" i="0" u="none" strike="noStrike" kern="1200" cap="none" spc="8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Medium" panose="020B0603020204020204" pitchFamily="34" charset="0"/>
              <a:ea typeface="Amazon Ember Medium" panose="020B0603020204020204" pitchFamily="34" charset="0"/>
              <a:cs typeface="Amazon Ember Medium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0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5192253B06A94B970103510F07537B" ma:contentTypeVersion="13" ma:contentTypeDescription="Create a new document." ma:contentTypeScope="" ma:versionID="eb5aa5a55041416930193f2d7f825980">
  <xsd:schema xmlns:xsd="http://www.w3.org/2001/XMLSchema" xmlns:xs="http://www.w3.org/2001/XMLSchema" xmlns:p="http://schemas.microsoft.com/office/2006/metadata/properties" xmlns:ns2="56ce0110-8c86-4add-8331-efef0b991126" xmlns:ns3="d3b3ceba-7e6e-4993-b16f-d1e8643da3c7" targetNamespace="http://schemas.microsoft.com/office/2006/metadata/properties" ma:root="true" ma:fieldsID="d35ba96e72e44fa2655a2d73f2dbe8b8" ns2:_="" ns3:_="">
    <xsd:import namespace="56ce0110-8c86-4add-8331-efef0b991126"/>
    <xsd:import namespace="d3b3ceba-7e6e-4993-b16f-d1e8643da3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DopplerDrinkExpirationDa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ce0110-8c86-4add-8331-efef0b9911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12e36a2-49b7-4b00-ba12-1750025de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opplerDrinkExpirationDates" ma:index="20" nillable="true" ma:displayName="Doppler Drink Expiration Dates" ma:format="Dropdown" ma:internalName="DopplerDrinkExpirationDa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3ceba-7e6e-4993-b16f-d1e8643da3c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002218e-3459-4c41-bb35-0c423c747d81}" ma:internalName="TaxCatchAll" ma:showField="CatchAllData" ma:web="d3b3ceba-7e6e-4993-b16f-d1e8643da3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b3ceba-7e6e-4993-b16f-d1e8643da3c7" xsi:nil="true"/>
    <lcf76f155ced4ddcb4097134ff3c332f xmlns="56ce0110-8c86-4add-8331-efef0b991126">
      <Terms xmlns="http://schemas.microsoft.com/office/infopath/2007/PartnerControls"/>
    </lcf76f155ced4ddcb4097134ff3c332f>
    <DopplerDrinkExpirationDates xmlns="56ce0110-8c86-4add-8331-efef0b99112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C62981-379E-4D1B-B576-EDDDC491B1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ce0110-8c86-4add-8331-efef0b991126"/>
    <ds:schemaRef ds:uri="d3b3ceba-7e6e-4993-b16f-d1e8643da3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F48AC5-28C2-4BE0-810D-7390F0DAB9CC}">
  <ds:schemaRefs>
    <ds:schemaRef ds:uri="56ce0110-8c86-4add-8331-efef0b991126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d3b3ceba-7e6e-4993-b16f-d1e8643da3c7"/>
  </ds:schemaRefs>
</ds:datastoreItem>
</file>

<file path=customXml/itemProps3.xml><?xml version="1.0" encoding="utf-8"?>
<ds:datastoreItem xmlns:ds="http://schemas.openxmlformats.org/officeDocument/2006/customXml" ds:itemID="{FB90902B-7E80-4BCF-ABC5-5685573B53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d62b7dd-4b48-44bd-90e7-e143a22c8ead}" enabled="0" method="" siteId="{cd62b7dd-4b48-44bd-90e7-e143a22c8e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25604</TotalTime>
  <Words>2204</Words>
  <Application>Microsoft Office PowerPoint</Application>
  <PresentationFormat>Custom</PresentationFormat>
  <Paragraphs>366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9" baseType="lpstr">
      <vt:lpstr>Amazon Ember</vt:lpstr>
      <vt:lpstr>Amazon Ember Heavy</vt:lpstr>
      <vt:lpstr>Amazon Ember Light</vt:lpstr>
      <vt:lpstr>Amazon Ember Medium</vt:lpstr>
      <vt:lpstr>Aptos</vt:lpstr>
      <vt:lpstr>Aptos Display</vt:lpstr>
      <vt:lpstr>Arial</vt:lpstr>
      <vt:lpstr>Bebas Neue</vt:lpstr>
      <vt:lpstr>Calibri</vt:lpstr>
      <vt:lpstr>Calibri Light</vt:lpstr>
      <vt:lpstr>Ember Modern Display Standard</vt:lpstr>
      <vt:lpstr>Montserrat</vt:lpstr>
      <vt:lpstr>Rift Bold</vt:lpstr>
      <vt:lpstr>Times New Roman</vt:lpstr>
      <vt:lpstr>Office Theme</vt:lpstr>
      <vt:lpstr>1_Office Theme</vt:lpstr>
      <vt:lpstr>7_office theme</vt:lpstr>
      <vt:lpstr>3_Office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Radish &amp; Roux</dc:title>
  <dc:creator>Schnebly, Sandy</dc:creator>
  <cp:lastModifiedBy>Tyler Leiss</cp:lastModifiedBy>
  <cp:revision>218</cp:revision>
  <cp:lastPrinted>2026-04-28T15:35:37Z</cp:lastPrinted>
  <dcterms:created xsi:type="dcterms:W3CDTF">2023-02-04T23:16:04Z</dcterms:created>
  <dcterms:modified xsi:type="dcterms:W3CDTF">2026-06-19T03:55:23Z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2023-02-04T00:00:00Z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0x0101003D5192253B06A94B970103510F07537B</vt:lpwstr>
  </property>
  <property fmtid="{D5CDD505-2E9C-101B-9397-08002B2CF9AE}" pid="7" name="MediaServiceImageTags">
    <vt:lpwstr/>
  </property>
</Properties>
</file>